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d130e6e-5857-d020-3a4c-af8f20eafdf6}">
          <p14:sldIdLst>
            <p14:sldId id="256"/>
            <p14:sldId id="257"/>
          </p14:sldIdLst>
        </p14:section>
        <p14:section name="The system" id="{0dc9f525-a6b4-7ab2-7de3-39434bf51b0f}">
          <p14:sldIdLst>
            <p14:sldId id="258"/>
            <p14:sldId id="259"/>
            <p14:sldId id="260"/>
          </p14:sldIdLst>
        </p14:section>
        <p14:section name="Close" id="{0cebac36-5a4f-d587-051a-45b9799a1227}">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(0:00–0:25)
[Walk to the front. Smile. Wait 2 seconds until the room is quiet.]
Good morning, everyone! Before we start, one rule: please keep your questions until the end, and I promise I'll answer every one.
Quick show of hands. [Raise your own hand.] Who here has ever said, "I'll start tonight," and then suddenly it's 2 a.m. and you've watched three episodes instead? [Pause. Smile at the hands.] Yes, me too!
Today I'll show you three steps to survive deadlines, with no panic.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deadline trap (0:25–0:55)
[Click. Point at the three quotes.]
Here's the thing. Most of us don't fail because we're lazy. We fail because we have no system.
Our brain is juggling the essay, the group project, the exam, and the laundry, all at once. And a brain that is juggling can't focus.
So don't try harder. Work smarter, with three steps: Dump. Sort.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 DUMP (0:55–1:30)
[Click. Hold up one finger.]
Step one: Dump. Take five minutes and write down everything you need to do. Big, small, boring, scary. Notes app, paper, anything. [Point at the sticky notes.] "Essay due Friday." "Email my professor." Even "do laundry." Every single thing goes on the list.
Why? Because your brain is great at having ideas, but terrible at storing them. Once it's on the list, your head is free.
Try it tonight. You'll feel lighter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SORT (1:30–2:25)
[Click. Hold up two fingers. Point at each box as you name it.]
Step two: Sort. This is the Eisenhower Matrix, a simple four-box grid. For every task, ask two questions: Is it urgent? Is it important?
Urgent and important? Do it now, like the essay due tomorrow.
Important but not urgent? Schedule it, like studying for the midterm. This is where winners live.
Urgent but not important, like a quick reply in the group chat? Hand it off, or do it fast.
And neither? [Look at the audience.] Let me ask you: is scrolling TikTok urgent? Important? [Pause. Let them answer.] Exactly. Delete.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 BLOCK (2:25–3:05)
[Click. Hold up three fingers. Slow down on the first line.]
Step three: Block. A task without a time is just a wish.
So give every task a slot in your calendar, and use the Pomodoro trick: 25 minutes of full focus, phone away, then a 5-minute break. After four rounds, take a longer one. [Sweep your hand along the timeline.] For example, take "study for the midterm" from your Schedule box and give it a start time: Tuesday, 7 p.m.
Short sprints beat long, painful marathons. And breaks are part of the plan, not a reward for finishing.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 challenge (3:05–3:40)
[Click. Slow down. Look at the whole room.]
So remember: Dump it. Sort it. Block it.
Here's your challenge. Tonight, take just five minutes: dump your tasks, pick your top three, and block time for the first one. That's it.
A small system makes a big change. And your future self, the one with no 2 a.m. panic, will thank you.
Thank you! [Smile. Pause.] I'd be happy to take your questions.
[Click to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CHEAT SHEET
For every good question, use this 4-step pattern:
Thank → Comment → Answer → Check
### 1. Good question
Q: "What if everything feels urgent?"
Thank/Comment: "Thank you, that's a very good question. I'm glad you asked."
Answer: "Then ask one more question: what happens if I do this tomorrow? If the answer is 'nothing bad,' it's not truly urgent. Start with the item with the real consequence or the closest deadline, and the rest can wait."
Check: "Does that help?"
### 2. Difficult question
Q: "Doesn't Pomodoro fail if I'm already in the flow?"
Answer: "Good point. If you're deeply focused, keep going. The timer is a tool, not a rule. Use it to start, and ignore it when you're on a roll. Take your break when the flow ends."
If you don't know: "That's a great question and I don't have the full answer. Let me find out and email you after class."
### 3. Unnecessary question (already covered)
Q: "Sorry, how long is one Pomodoro?"
Answer: Stay kind. Never say "I already said that." → "Thanks for checking! 25 minutes of focus, then a 5-minute break. Does that make sense?"
### 4. Irrelevant question
Q: "Which phone do you use?"
Answer: "Thanks for asking, but that's a bit off-topic. Let's chat about it after class so we can stay on task management."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60350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BI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669280" cy="15544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063240"/>
            <a:ext cx="5486400" cy="82296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669280" cy="1554480"/>
          </a:xfrm>
          <a:prstGeom prst="rect">
            <a:avLst/>
          </a:prstGeom>
          <a:noFill/>
          <a:ln/>
        </p:spPr>
        <p:txBody>
          <a:bodyPr wrap="square" lIns="0" tIns="0" rIns="0" bIns="0" rtlCol="0" anchor="ctr"/>
          <a:lstStyle/>
          <a:p>
            <a:pPr algn="l" indent="0" marL="0">
              <a:buNone/>
            </a:pPr>
            <a:r>
              <a:rPr lang="en-US" sz="4800" b="1" dirty="0">
                <a:solidFill>
                  <a:schemeClr val="bg1"/>
                </a:solidFill>
              </a:rPr>
              <a:t>Deadline Survival Guide</a:t>
            </a:r>
            <a:endParaRPr lang="en-US" sz="4800" dirty="0"/>
          </a:p>
        </p:txBody>
      </p:sp>
      <p:sp>
        <p:nvSpPr>
          <p:cNvPr id="3" name="Text 0"/>
          <p:cNvSpPr/>
          <p:nvPr>
            <p:ph idx="101" type="body" hasCustomPrompt="1"/>
          </p:nvPr>
        </p:nvSpPr>
        <p:spPr>
          <a:xfrm>
            <a:off x="640080" y="3063240"/>
            <a:ext cx="5486400" cy="822960"/>
          </a:xfrm>
          <a:prstGeom prst="rect">
            <a:avLst/>
          </a:prstGeom>
          <a:noFill/>
          <a:ln/>
        </p:spPr>
        <p:txBody>
          <a:bodyPr wrap="square" lIns="0" tIns="0" rIns="0" bIns="0" rtlCol="0" anchor="t"/>
          <a:lstStyle/>
          <a:p>
            <a:pPr algn="l" indent="0" marL="0">
              <a:buNone/>
            </a:pPr>
            <a:r>
              <a:rPr lang="en-US" sz="2000" dirty="0">
                <a:solidFill>
                  <a:schemeClr val="accent2"/>
                </a:solidFill>
              </a:rPr>
              <a:t>3 steps to stop drowning in tasks</a:t>
            </a:r>
            <a:endParaRPr lang="en-US" sz="2000" dirty="0"/>
          </a:p>
        </p:txBody>
      </p:sp>
      <p:sp>
        <p:nvSpPr>
          <p:cNvPr id="4" name="Presenter"/>
          <p:cNvSpPr txBox="1"/>
          <p:nvPr/>
        </p:nvSpPr>
        <p:spPr>
          <a:xfrm>
            <a:off x="640080" y="4343400"/>
            <a:ext cx="5486400" cy="274320"/>
          </a:xfrm>
          <a:prstGeom prst="rect">
            <a:avLst/>
          </a:prstGeom>
          <a:noFill/>
          <a:ln/>
        </p:spPr>
        <p:txBody>
          <a:bodyPr wrap="square" lIns="0" tIns="0" rIns="0" bIns="0" rtlCol="0" anchor="ctr"/>
          <a:lstStyle/>
          <a:p>
            <a:pPr indent="0" marL="0">
              <a:buNone/>
            </a:pPr>
            <a:r>
              <a:rPr lang="en-US" sz="1200" b="1" dirty="0">
                <a:solidFill>
                  <a:schemeClr val="accent3"/>
                </a:solidFill>
              </a:rPr>
              <a:t>YOUR NAME  ·  Presentation Skills</a:t>
            </a:r>
            <a:endParaRPr lang="en-US" sz="1200" dirty="0"/>
          </a:p>
        </p:txBody>
      </p:sp>
      <p:sp>
        <p:nvSpPr>
          <p:cNvPr id="5" name="Big circle"/>
          <p:cNvSpPr/>
          <p:nvPr/>
        </p:nvSpPr>
        <p:spPr>
          <a:xfrm>
            <a:off x="6309360" y="640080"/>
            <a:ext cx="2377440" cy="2377440"/>
          </a:xfrm>
          <a:prstGeom prst="ellipse">
            <a:avLst/>
          </a:prstGeom>
          <a:solidFill>
            <a:schemeClr val="accent1"/>
          </a:solidFill>
          <a:ln w="12700">
            <a:solidFill>
              <a:schemeClr val="accent1"/>
            </a:solidFill>
            <a:prstDash val="solid"/>
          </a:ln>
        </p:spPr>
      </p:sp>
      <p:pic>
        <p:nvPicPr>
          <p:cNvPr id="6" name="Checkmark" descr="Checkmark">    </p:cNvPr>
          <p:cNvPicPr>
            <a:picLocks noChangeAspect="1"/>
          </p:cNvPicPr>
          <p:nvPr/>
        </p:nvPicPr>
        <p:blipFill>
          <a:blip r:embed="rId1"/>
          <a:stretch>
            <a:fillRect/>
          </a:stretch>
        </p:blipFill>
        <p:spPr>
          <a:xfrm>
            <a:off x="6949440" y="1280160"/>
            <a:ext cx="1097280" cy="1097280"/>
          </a:xfrm>
          <a:prstGeom prst="rect">
            <a:avLst/>
          </a:prstGeom>
        </p:spPr>
      </p:pic>
      <p:sp>
        <p:nvSpPr>
          <p:cNvPr id="7" name="Clock circle"/>
          <p:cNvSpPr/>
          <p:nvPr/>
        </p:nvSpPr>
        <p:spPr>
          <a:xfrm>
            <a:off x="5760720" y="2880360"/>
            <a:ext cx="1097280" cy="1097280"/>
          </a:xfrm>
          <a:prstGeom prst="ellipse">
            <a:avLst/>
          </a:prstGeom>
          <a:solidFill>
            <a:schemeClr val="accent2"/>
          </a:solidFill>
          <a:ln w="12700">
            <a:solidFill>
              <a:schemeClr val="accent2"/>
            </a:solidFill>
            <a:prstDash val="solid"/>
          </a:ln>
        </p:spPr>
      </p:sp>
      <p:pic>
        <p:nvPicPr>
          <p:cNvPr id="8" name="Clock" descr="Clock">    </p:cNvPr>
          <p:cNvPicPr>
            <a:picLocks noChangeAspect="1"/>
          </p:cNvPicPr>
          <p:nvPr/>
        </p:nvPicPr>
        <p:blipFill>
          <a:blip r:embed="rId2"/>
          <a:stretch>
            <a:fillRect/>
          </a:stretch>
        </p:blipFill>
        <p:spPr>
          <a:xfrm>
            <a:off x="6067958" y="3187598"/>
            <a:ext cx="482803" cy="482803"/>
          </a:xfrm>
          <a:prstGeom prst="rect">
            <a:avLst/>
          </a:prstGeom>
        </p:spPr>
      </p:pic>
      <p:sp>
        <p:nvSpPr>
          <p:cNvPr id="9" name="Calendar circle"/>
          <p:cNvSpPr/>
          <p:nvPr/>
        </p:nvSpPr>
        <p:spPr>
          <a:xfrm>
            <a:off x="7498080" y="3108960"/>
            <a:ext cx="914400" cy="914400"/>
          </a:xfrm>
          <a:prstGeom prst="ellipse">
            <a:avLst/>
          </a:prstGeom>
          <a:solidFill>
            <a:schemeClr val="accent3"/>
          </a:solidFill>
          <a:ln w="12700">
            <a:solidFill>
              <a:schemeClr val="accent3"/>
            </a:solidFill>
            <a:prstDash val="solid"/>
          </a:ln>
        </p:spPr>
      </p:sp>
      <p:pic>
        <p:nvPicPr>
          <p:cNvPr id="10" name="Calendar" descr="Calendar">    </p:cNvPr>
          <p:cNvPicPr>
            <a:picLocks noChangeAspect="1"/>
          </p:cNvPicPr>
          <p:nvPr/>
        </p:nvPicPr>
        <p:blipFill>
          <a:blip r:embed="rId3"/>
          <a:stretch>
            <a:fillRect/>
          </a:stretch>
        </p:blipFill>
        <p:spPr>
          <a:xfrm>
            <a:off x="7754112" y="3364992"/>
            <a:ext cx="402336" cy="4023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6035040" cy="731520"/>
          </a:xfrm>
          <a:prstGeom prst="rect">
            <a:avLst/>
          </a:prstGeom>
          <a:noFill/>
          <a:ln/>
        </p:spPr>
        <p:txBody>
          <a:bodyPr wrap="square" lIns="0" tIns="0" rIns="0" bIns="0" rtlCol="0" anchor="ctr"/>
          <a:lstStyle/>
          <a:p>
            <a:pPr algn="l" indent="0" marL="0">
              <a:buNone/>
            </a:pPr>
            <a:r>
              <a:rPr lang="en-US" sz="3400" b="1" dirty="0">
                <a:solidFill>
                  <a:schemeClr val="tx1"/>
                </a:solidFill>
              </a:rPr>
              <a:t>The deadline trap</a:t>
            </a:r>
            <a:endParaRPr lang="en-US" sz="3400" dirty="0"/>
          </a:p>
        </p:txBody>
      </p:sp>
      <p:sp>
        <p:nvSpPr>
          <p:cNvPr id="3" name="Thought card 1"/>
          <p:cNvSpPr/>
          <p:nvPr/>
        </p:nvSpPr>
        <p:spPr>
          <a:xfrm>
            <a:off x="548640" y="1325880"/>
            <a:ext cx="4572000" cy="960120"/>
          </a:xfrm>
          <a:prstGeom prst="roundRect">
            <a:avLst>
              <a:gd name="adj" fmla="val 19048"/>
            </a:avLst>
          </a:prstGeom>
          <a:solidFill>
            <a:schemeClr val="bg1"/>
          </a:solidFill>
          <a:ln w="12700">
            <a:solidFill>
              <a:schemeClr val="bg1"/>
            </a:solidFill>
            <a:prstDash val="solid"/>
          </a:ln>
          <a:effectLst>
            <a:outerShdw sx="100000" sy="100000" kx="0" ky="0" algn="bl" rotWithShape="0" blurRad="101600" dist="25400" dir="5400000">
              <a:srgbClr val="1F1A38">
                <a:alpha val="18000"/>
              </a:srgbClr>
            </a:outerShdw>
          </a:effectLst>
        </p:spPr>
      </p:sp>
      <p:sp>
        <p:nvSpPr>
          <p:cNvPr id="4" name="Thought icon 1 circle"/>
          <p:cNvSpPr/>
          <p:nvPr/>
        </p:nvSpPr>
        <p:spPr>
          <a:xfrm>
            <a:off x="731520" y="1508760"/>
            <a:ext cx="594360" cy="594360"/>
          </a:xfrm>
          <a:prstGeom prst="ellipse">
            <a:avLst/>
          </a:prstGeom>
          <a:solidFill>
            <a:schemeClr val="accent4"/>
          </a:solidFill>
          <a:ln w="12700">
            <a:solidFill>
              <a:schemeClr val="accent4"/>
            </a:solidFill>
            <a:prstDash val="solid"/>
          </a:ln>
        </p:spPr>
      </p:sp>
      <p:pic>
        <p:nvPicPr>
          <p:cNvPr id="5" name="Thought icon 1" descr="Thought icon 1">    </p:cNvPr>
          <p:cNvPicPr>
            <a:picLocks noChangeAspect="1"/>
          </p:cNvPicPr>
          <p:nvPr/>
        </p:nvPicPr>
        <p:blipFill>
          <a:blip r:embed="rId1"/>
          <a:stretch>
            <a:fillRect/>
          </a:stretch>
        </p:blipFill>
        <p:spPr>
          <a:xfrm>
            <a:off x="897941" y="1675181"/>
            <a:ext cx="261518" cy="261518"/>
          </a:xfrm>
          <a:prstGeom prst="rect">
            <a:avLst/>
          </a:prstGeom>
        </p:spPr>
      </p:pic>
      <p:sp>
        <p:nvSpPr>
          <p:cNvPr id="6" name="Thought 1"/>
          <p:cNvSpPr txBox="1"/>
          <p:nvPr/>
        </p:nvSpPr>
        <p:spPr>
          <a:xfrm>
            <a:off x="1554480" y="1325880"/>
            <a:ext cx="3474720" cy="960120"/>
          </a:xfrm>
          <a:prstGeom prst="rect">
            <a:avLst/>
          </a:prstGeom>
          <a:noFill/>
          <a:ln/>
        </p:spPr>
        <p:txBody>
          <a:bodyPr wrap="square" lIns="0" tIns="0" rIns="0" bIns="0" rtlCol="0" anchor="ctr"/>
          <a:lstStyle/>
          <a:p>
            <a:pPr indent="0" marL="0">
              <a:buNone/>
            </a:pPr>
            <a:r>
              <a:rPr lang="en-US" sz="2000" i="1" dirty="0">
                <a:solidFill>
                  <a:schemeClr val="tx1"/>
                </a:solidFill>
              </a:rPr>
              <a:t>“I'll start tonight.”</a:t>
            </a:r>
            <a:endParaRPr lang="en-US" sz="2000" dirty="0"/>
          </a:p>
        </p:txBody>
      </p:sp>
      <p:sp>
        <p:nvSpPr>
          <p:cNvPr id="7" name="Thought card 2"/>
          <p:cNvSpPr/>
          <p:nvPr/>
        </p:nvSpPr>
        <p:spPr>
          <a:xfrm>
            <a:off x="548640" y="2496312"/>
            <a:ext cx="4572000" cy="960120"/>
          </a:xfrm>
          <a:prstGeom prst="roundRect">
            <a:avLst>
              <a:gd name="adj" fmla="val 19048"/>
            </a:avLst>
          </a:prstGeom>
          <a:solidFill>
            <a:schemeClr val="bg1"/>
          </a:solidFill>
          <a:ln w="12700">
            <a:solidFill>
              <a:schemeClr val="bg1"/>
            </a:solidFill>
            <a:prstDash val="solid"/>
          </a:ln>
          <a:effectLst>
            <a:outerShdw sx="100000" sy="100000" kx="0" ky="0" algn="bl" rotWithShape="0" blurRad="101600" dist="25400" dir="5400000">
              <a:srgbClr val="1F1A38">
                <a:alpha val="18000"/>
              </a:srgbClr>
            </a:outerShdw>
          </a:effectLst>
        </p:spPr>
      </p:sp>
      <p:sp>
        <p:nvSpPr>
          <p:cNvPr id="8" name="Thought icon 2 circle"/>
          <p:cNvSpPr/>
          <p:nvPr/>
        </p:nvSpPr>
        <p:spPr>
          <a:xfrm>
            <a:off x="731520" y="2679192"/>
            <a:ext cx="594360" cy="594360"/>
          </a:xfrm>
          <a:prstGeom prst="ellipse">
            <a:avLst/>
          </a:prstGeom>
          <a:solidFill>
            <a:schemeClr val="accent5"/>
          </a:solidFill>
          <a:ln w="12700">
            <a:solidFill>
              <a:schemeClr val="accent5"/>
            </a:solidFill>
            <a:prstDash val="solid"/>
          </a:ln>
        </p:spPr>
      </p:sp>
      <p:pic>
        <p:nvPicPr>
          <p:cNvPr id="9" name="Thought icon 2" descr="Thought icon 2">    </p:cNvPr>
          <p:cNvPicPr>
            <a:picLocks noChangeAspect="1"/>
          </p:cNvPicPr>
          <p:nvPr/>
        </p:nvPicPr>
        <p:blipFill>
          <a:blip r:embed="rId2"/>
          <a:stretch>
            <a:fillRect/>
          </a:stretch>
        </p:blipFill>
        <p:spPr>
          <a:xfrm>
            <a:off x="897941" y="2845613"/>
            <a:ext cx="261518" cy="261518"/>
          </a:xfrm>
          <a:prstGeom prst="rect">
            <a:avLst/>
          </a:prstGeom>
        </p:spPr>
      </p:pic>
      <p:sp>
        <p:nvSpPr>
          <p:cNvPr id="10" name="Thought 2"/>
          <p:cNvSpPr txBox="1"/>
          <p:nvPr/>
        </p:nvSpPr>
        <p:spPr>
          <a:xfrm>
            <a:off x="1554480" y="2496312"/>
            <a:ext cx="3474720" cy="960120"/>
          </a:xfrm>
          <a:prstGeom prst="rect">
            <a:avLst/>
          </a:prstGeom>
          <a:noFill/>
          <a:ln/>
        </p:spPr>
        <p:txBody>
          <a:bodyPr wrap="square" lIns="0" tIns="0" rIns="0" bIns="0" rtlCol="0" anchor="ctr"/>
          <a:lstStyle/>
          <a:p>
            <a:pPr indent="0" marL="0">
              <a:buNone/>
            </a:pPr>
            <a:r>
              <a:rPr lang="en-US" sz="2000" i="1" dirty="0">
                <a:solidFill>
                  <a:schemeClr val="tx1"/>
                </a:solidFill>
              </a:rPr>
              <a:t>“Just one more episode.”</a:t>
            </a:r>
            <a:endParaRPr lang="en-US" sz="2000" dirty="0"/>
          </a:p>
        </p:txBody>
      </p:sp>
      <p:sp>
        <p:nvSpPr>
          <p:cNvPr id="11" name="Thought card 3"/>
          <p:cNvSpPr/>
          <p:nvPr/>
        </p:nvSpPr>
        <p:spPr>
          <a:xfrm>
            <a:off x="548640" y="3666744"/>
            <a:ext cx="4572000" cy="960120"/>
          </a:xfrm>
          <a:prstGeom prst="roundRect">
            <a:avLst>
              <a:gd name="adj" fmla="val 19048"/>
            </a:avLst>
          </a:prstGeom>
          <a:solidFill>
            <a:schemeClr val="bg1"/>
          </a:solidFill>
          <a:ln w="12700">
            <a:solidFill>
              <a:schemeClr val="bg1"/>
            </a:solidFill>
            <a:prstDash val="solid"/>
          </a:ln>
          <a:effectLst>
            <a:outerShdw sx="100000" sy="100000" kx="0" ky="0" algn="bl" rotWithShape="0" blurRad="101600" dist="25400" dir="5400000">
              <a:srgbClr val="1F1A38">
                <a:alpha val="18000"/>
              </a:srgbClr>
            </a:outerShdw>
          </a:effectLst>
        </p:spPr>
      </p:sp>
      <p:sp>
        <p:nvSpPr>
          <p:cNvPr id="12" name="Thought icon 3 circle"/>
          <p:cNvSpPr/>
          <p:nvPr/>
        </p:nvSpPr>
        <p:spPr>
          <a:xfrm>
            <a:off x="731520" y="3849624"/>
            <a:ext cx="594360" cy="594360"/>
          </a:xfrm>
          <a:prstGeom prst="ellipse">
            <a:avLst/>
          </a:prstGeom>
          <a:solidFill>
            <a:schemeClr val="accent6"/>
          </a:solidFill>
          <a:ln w="12700">
            <a:solidFill>
              <a:schemeClr val="accent6"/>
            </a:solidFill>
            <a:prstDash val="solid"/>
          </a:ln>
        </p:spPr>
      </p:sp>
      <p:pic>
        <p:nvPicPr>
          <p:cNvPr id="13" name="Thought icon 3" descr="Thought icon 3">    </p:cNvPr>
          <p:cNvPicPr>
            <a:picLocks noChangeAspect="1"/>
          </p:cNvPicPr>
          <p:nvPr/>
        </p:nvPicPr>
        <p:blipFill>
          <a:blip r:embed="rId3"/>
          <a:stretch>
            <a:fillRect/>
          </a:stretch>
        </p:blipFill>
        <p:spPr>
          <a:xfrm>
            <a:off x="897941" y="4016045"/>
            <a:ext cx="261518" cy="261518"/>
          </a:xfrm>
          <a:prstGeom prst="rect">
            <a:avLst/>
          </a:prstGeom>
        </p:spPr>
      </p:pic>
      <p:sp>
        <p:nvSpPr>
          <p:cNvPr id="14" name="Thought 3"/>
          <p:cNvSpPr txBox="1"/>
          <p:nvPr/>
        </p:nvSpPr>
        <p:spPr>
          <a:xfrm>
            <a:off x="1554480" y="3666744"/>
            <a:ext cx="3474720" cy="960120"/>
          </a:xfrm>
          <a:prstGeom prst="rect">
            <a:avLst/>
          </a:prstGeom>
          <a:noFill/>
          <a:ln/>
        </p:spPr>
        <p:txBody>
          <a:bodyPr wrap="square" lIns="0" tIns="0" rIns="0" bIns="0" rtlCol="0" anchor="ctr"/>
          <a:lstStyle/>
          <a:p>
            <a:pPr indent="0" marL="0">
              <a:buNone/>
            </a:pPr>
            <a:r>
              <a:rPr lang="en-US" sz="2000" i="1" dirty="0">
                <a:solidFill>
                  <a:schemeClr val="tx1"/>
                </a:solidFill>
              </a:rPr>
              <a:t>“Wait… when is that due?”</a:t>
            </a:r>
            <a:endParaRPr lang="en-US" sz="2000" dirty="0"/>
          </a:p>
        </p:txBody>
      </p:sp>
      <p:sp>
        <p:nvSpPr>
          <p:cNvPr id="15" name="Punchline card"/>
          <p:cNvSpPr/>
          <p:nvPr/>
        </p:nvSpPr>
        <p:spPr>
          <a:xfrm>
            <a:off x="5486400" y="1325880"/>
            <a:ext cx="3108960" cy="3246120"/>
          </a:xfrm>
          <a:prstGeom prst="roundRect">
            <a:avLst>
              <a:gd name="adj" fmla="val 5882"/>
            </a:avLst>
          </a:prstGeom>
          <a:solidFill>
            <a:schemeClr val="tx1"/>
          </a:solidFill>
          <a:ln w="12700">
            <a:solidFill>
              <a:schemeClr val="tx1"/>
            </a:solidFill>
            <a:prstDash val="solid"/>
          </a:ln>
          <a:effectLst>
            <a:outerShdw sx="100000" sy="100000" kx="0" ky="0" algn="bl" rotWithShape="0" blurRad="101600" dist="25400" dir="5400000">
              <a:srgbClr val="1F1A38">
                <a:alpha val="18000"/>
              </a:srgbClr>
            </a:outerShdw>
          </a:effectLst>
        </p:spPr>
      </p:sp>
      <p:sp>
        <p:nvSpPr>
          <p:cNvPr id="16" name="Punchline"/>
          <p:cNvSpPr txBox="1"/>
          <p:nvPr/>
        </p:nvSpPr>
        <p:spPr>
          <a:xfrm>
            <a:off x="5760720" y="1554480"/>
            <a:ext cx="2560320" cy="2788920"/>
          </a:xfrm>
          <a:prstGeom prst="rect">
            <a:avLst/>
          </a:prstGeom>
          <a:noFill/>
          <a:ln/>
        </p:spPr>
        <p:txBody>
          <a:bodyPr wrap="square" lIns="0" tIns="0" rIns="0" bIns="0" rtlCol="0" anchor="ctr"/>
          <a:lstStyle/>
          <a:p>
            <a:pPr indent="0" marL="0">
              <a:buNone/>
            </a:pPr>
            <a:r>
              <a:rPr lang="en-US" sz="1800" dirty="0">
                <a:solidFill>
                  <a:schemeClr val="bg1"/>
                </a:solidFill>
              </a:rPr>
              <a:t>It's not laziness.</a:t>
            </a:r>
            <a:endParaRPr lang="en-US" sz="1800" dirty="0"/>
          </a:p>
          <a:p>
            <a:pPr indent="0" marL="0">
              <a:buNone/>
            </a:pPr>
            <a:r>
              <a:rPr lang="en-US" sz="3000" b="1" dirty="0">
                <a:solidFill>
                  <a:schemeClr val="accent2"/>
                </a:solidFill>
              </a:rPr>
              <a:t>It's a missing system.</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6035040" cy="731520"/>
          </a:xfrm>
          <a:prstGeom prst="rect">
            <a:avLst/>
          </a:prstGeom>
          <a:noFill/>
          <a:ln/>
        </p:spPr>
        <p:txBody>
          <a:bodyPr wrap="square" lIns="0" tIns="0" rIns="0" bIns="0" rtlCol="0" anchor="ctr"/>
          <a:lstStyle/>
          <a:p>
            <a:pPr algn="l" indent="0" marL="0">
              <a:buNone/>
            </a:pPr>
            <a:r>
              <a:rPr lang="en-US" sz="3400" b="1" dirty="0">
                <a:solidFill>
                  <a:schemeClr val="tx1"/>
                </a:solidFill>
              </a:rPr>
              <a:t>Step 1 · DUMP</a:t>
            </a:r>
            <a:endParaRPr lang="en-US" sz="3400" dirty="0"/>
          </a:p>
        </p:txBody>
      </p:sp>
      <p:sp>
        <p:nvSpPr>
          <p:cNvPr id="3" name="Step 1"/>
          <p:cNvSpPr/>
          <p:nvPr/>
        </p:nvSpPr>
        <p:spPr>
          <a:xfrm>
            <a:off x="6903720" y="457200"/>
            <a:ext cx="457200" cy="457200"/>
          </a:xfrm>
          <a:prstGeom prst="ellipse">
            <a:avLst/>
          </a:prstGeom>
          <a:solidFill>
            <a:schemeClr val="accent1"/>
          </a:solidFill>
          <a:ln w="19050">
            <a:solidFill>
              <a:schemeClr val="accent1"/>
            </a:solidFill>
            <a:prstDash val="solid"/>
          </a:ln>
        </p:spPr>
      </p:sp>
      <p:sp>
        <p:nvSpPr>
          <p:cNvPr id="4" name="Step 1 number"/>
          <p:cNvSpPr txBox="1"/>
          <p:nvPr/>
        </p:nvSpPr>
        <p:spPr>
          <a:xfrm>
            <a:off x="6903720" y="457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tep 2"/>
          <p:cNvSpPr/>
          <p:nvPr/>
        </p:nvSpPr>
        <p:spPr>
          <a:xfrm>
            <a:off x="7470648" y="457200"/>
            <a:ext cx="457200" cy="457200"/>
          </a:xfrm>
          <a:prstGeom prst="ellipse">
            <a:avLst/>
          </a:prstGeom>
          <a:solidFill>
            <a:schemeClr val="bg1"/>
          </a:solidFill>
          <a:ln w="19050">
            <a:solidFill>
              <a:schemeClr val="accent4"/>
            </a:solidFill>
            <a:prstDash val="solid"/>
          </a:ln>
        </p:spPr>
      </p:sp>
      <p:sp>
        <p:nvSpPr>
          <p:cNvPr id="6" name="Step 2 number"/>
          <p:cNvSpPr txBox="1"/>
          <p:nvPr/>
        </p:nvSpPr>
        <p:spPr>
          <a:xfrm>
            <a:off x="7470648" y="457200"/>
            <a:ext cx="457200" cy="457200"/>
          </a:xfrm>
          <a:prstGeom prst="rect">
            <a:avLst/>
          </a:prstGeom>
          <a:noFill/>
          <a:ln/>
        </p:spPr>
        <p:txBody>
          <a:bodyPr wrap="square" lIns="0" tIns="0" rIns="0" bIns="0" rtlCol="0" anchor="ctr"/>
          <a:lstStyle/>
          <a:p>
            <a:pPr algn="ctr" indent="0" marL="0">
              <a:buNone/>
            </a:pPr>
            <a:r>
              <a:rPr lang="en-US" sz="1600" b="1" dirty="0">
                <a:solidFill>
                  <a:schemeClr val="accent4"/>
                </a:solidFill>
              </a:rPr>
              <a:t>2</a:t>
            </a:r>
            <a:endParaRPr lang="en-US" sz="1600" dirty="0"/>
          </a:p>
        </p:txBody>
      </p:sp>
      <p:sp>
        <p:nvSpPr>
          <p:cNvPr id="7" name="Step 3"/>
          <p:cNvSpPr/>
          <p:nvPr/>
        </p:nvSpPr>
        <p:spPr>
          <a:xfrm>
            <a:off x="8037576" y="457200"/>
            <a:ext cx="457200" cy="457200"/>
          </a:xfrm>
          <a:prstGeom prst="ellipse">
            <a:avLst/>
          </a:prstGeom>
          <a:solidFill>
            <a:schemeClr val="bg1"/>
          </a:solidFill>
          <a:ln w="19050">
            <a:solidFill>
              <a:schemeClr val="accent4"/>
            </a:solidFill>
            <a:prstDash val="solid"/>
          </a:ln>
        </p:spPr>
      </p:sp>
      <p:sp>
        <p:nvSpPr>
          <p:cNvPr id="8" name="Step 3 number"/>
          <p:cNvSpPr txBox="1"/>
          <p:nvPr/>
        </p:nvSpPr>
        <p:spPr>
          <a:xfrm>
            <a:off x="8037576" y="457200"/>
            <a:ext cx="457200" cy="457200"/>
          </a:xfrm>
          <a:prstGeom prst="rect">
            <a:avLst/>
          </a:prstGeom>
          <a:noFill/>
          <a:ln/>
        </p:spPr>
        <p:txBody>
          <a:bodyPr wrap="square" lIns="0" tIns="0" rIns="0" bIns="0" rtlCol="0" anchor="ctr"/>
          <a:lstStyle/>
          <a:p>
            <a:pPr algn="ctr" indent="0" marL="0">
              <a:buNone/>
            </a:pPr>
            <a:r>
              <a:rPr lang="en-US" sz="1600" b="1" dirty="0">
                <a:solidFill>
                  <a:schemeClr val="accent4"/>
                </a:solidFill>
              </a:rPr>
              <a:t>3</a:t>
            </a:r>
            <a:endParaRPr lang="en-US" sz="1600" dirty="0"/>
          </a:p>
        </p:txBody>
      </p:sp>
      <p:sp>
        <p:nvSpPr>
          <p:cNvPr id="9" name="Step 1 message"/>
          <p:cNvSpPr txBox="1"/>
          <p:nvPr/>
        </p:nvSpPr>
        <p:spPr>
          <a:xfrm>
            <a:off x="548640" y="1371600"/>
            <a:ext cx="3566160" cy="1463040"/>
          </a:xfrm>
          <a:prstGeom prst="rect">
            <a:avLst/>
          </a:prstGeom>
          <a:noFill/>
          <a:ln/>
        </p:spPr>
        <p:txBody>
          <a:bodyPr wrap="square" lIns="0" tIns="0" rIns="0" bIns="0" rtlCol="0" anchor="t"/>
          <a:lstStyle/>
          <a:p>
            <a:pPr indent="0" marL="0">
              <a:buNone/>
            </a:pPr>
            <a:r>
              <a:rPr lang="en-US" sz="3000" b="1" dirty="0">
                <a:solidFill>
                  <a:schemeClr val="tx1"/>
                </a:solidFill>
              </a:rPr>
              <a:t>Get everything out of your head.</a:t>
            </a:r>
            <a:endParaRPr lang="en-US" sz="3000" dirty="0"/>
          </a:p>
        </p:txBody>
      </p:sp>
      <p:sp>
        <p:nvSpPr>
          <p:cNvPr id="10" name="List circle"/>
          <p:cNvSpPr/>
          <p:nvPr/>
        </p:nvSpPr>
        <p:spPr>
          <a:xfrm>
            <a:off x="548640" y="3063240"/>
            <a:ext cx="640080" cy="640080"/>
          </a:xfrm>
          <a:prstGeom prst="ellipse">
            <a:avLst/>
          </a:prstGeom>
          <a:solidFill>
            <a:schemeClr val="accent3"/>
          </a:solidFill>
          <a:ln w="12700">
            <a:solidFill>
              <a:schemeClr val="accent3"/>
            </a:solidFill>
            <a:prstDash val="solid"/>
          </a:ln>
        </p:spPr>
      </p:sp>
      <p:pic>
        <p:nvPicPr>
          <p:cNvPr id="11" name="List" descr="List">    </p:cNvPr>
          <p:cNvPicPr>
            <a:picLocks noChangeAspect="1"/>
          </p:cNvPicPr>
          <p:nvPr/>
        </p:nvPicPr>
        <p:blipFill>
          <a:blip r:embed="rId1"/>
          <a:stretch>
            <a:fillRect/>
          </a:stretch>
        </p:blipFill>
        <p:spPr>
          <a:xfrm>
            <a:off x="727862" y="3242462"/>
            <a:ext cx="281635" cy="281635"/>
          </a:xfrm>
          <a:prstGeom prst="rect">
            <a:avLst/>
          </a:prstGeom>
        </p:spPr>
      </p:pic>
      <p:sp>
        <p:nvSpPr>
          <p:cNvPr id="12" name="Step 1 detail"/>
          <p:cNvSpPr txBox="1"/>
          <p:nvPr/>
        </p:nvSpPr>
        <p:spPr>
          <a:xfrm>
            <a:off x="1371600" y="3017520"/>
            <a:ext cx="2743200" cy="731520"/>
          </a:xfrm>
          <a:prstGeom prst="rect">
            <a:avLst/>
          </a:prstGeom>
          <a:noFill/>
          <a:ln/>
        </p:spPr>
        <p:txBody>
          <a:bodyPr wrap="square" lIns="0" tIns="0" rIns="0" bIns="0" rtlCol="0" anchor="ctr"/>
          <a:lstStyle/>
          <a:p>
            <a:pPr indent="0" marL="0">
              <a:buNone/>
            </a:pPr>
            <a:r>
              <a:rPr lang="en-US" sz="1800" b="1" dirty="0">
                <a:solidFill>
                  <a:schemeClr val="tx1"/>
                </a:solidFill>
              </a:rPr>
              <a:t>5 minutes. One list.</a:t>
            </a:r>
            <a:endParaRPr lang="en-US" sz="1800" dirty="0"/>
          </a:p>
          <a:p>
            <a:pPr indent="0" marL="0">
              <a:buNone/>
            </a:pPr>
            <a:r>
              <a:rPr lang="en-US" sz="1600" dirty="0">
                <a:solidFill>
                  <a:schemeClr val="tx2"/>
                </a:solidFill>
              </a:rPr>
              <a:t>Big, small, boring, scary.</a:t>
            </a:r>
            <a:endParaRPr lang="en-US" sz="1800" dirty="0"/>
          </a:p>
        </p:txBody>
      </p:sp>
      <p:sp>
        <p:nvSpPr>
          <p:cNvPr id="13" name="Sticky note 1"/>
          <p:cNvSpPr txBox="1"/>
          <p:nvPr/>
        </p:nvSpPr>
        <p:spPr>
          <a:xfrm rot="-240000">
            <a:off x="4572000" y="1325880"/>
            <a:ext cx="1828800" cy="868680"/>
          </a:xfrm>
          <a:prstGeom prst="rect">
            <a:avLst/>
          </a:prstGeom>
          <a:solidFill>
            <a:schemeClr val="accent2"/>
          </a:solidFill>
          <a:ln/>
          <a:effectLst>
            <a:outerShdw sx="100000" sy="100000" kx="0" ky="0" algn="bl" rotWithShape="0" blurRad="101600" dist="25400" dir="5400000">
              <a:srgbClr val="1F1A38">
                <a:alpha val="18000"/>
              </a:srgbClr>
            </a:outerShdw>
          </a:effectLst>
        </p:spPr>
        <p:txBody>
          <a:bodyPr wrap="square" lIns="76200" tIns="76200" rIns="76200" bIns="76200" rtlCol="0" anchor="ctr"/>
          <a:lstStyle/>
          <a:p>
            <a:pPr algn="ctr" indent="0" marL="0">
              <a:buNone/>
            </a:pPr>
            <a:r>
              <a:rPr lang="en-US" sz="1600" b="1" dirty="0">
                <a:solidFill>
                  <a:schemeClr val="tx1"/>
                </a:solidFill>
              </a:rPr>
              <a:t>Essay due Friday</a:t>
            </a:r>
            <a:endParaRPr lang="en-US" sz="1600" dirty="0"/>
          </a:p>
        </p:txBody>
      </p:sp>
      <p:sp>
        <p:nvSpPr>
          <p:cNvPr id="14" name="Sticky note 2"/>
          <p:cNvSpPr txBox="1"/>
          <p:nvPr/>
        </p:nvSpPr>
        <p:spPr>
          <a:xfrm rot="180000">
            <a:off x="6629400" y="1325880"/>
            <a:ext cx="1828800" cy="868680"/>
          </a:xfrm>
          <a:prstGeom prst="rect">
            <a:avLst/>
          </a:prstGeom>
          <a:solidFill>
            <a:schemeClr val="accent3"/>
          </a:solidFill>
          <a:ln/>
          <a:effectLst>
            <a:outerShdw sx="100000" sy="100000" kx="0" ky="0" algn="bl" rotWithShape="0" blurRad="101600" dist="25400" dir="5400000">
              <a:srgbClr val="1F1A38">
                <a:alpha val="18000"/>
              </a:srgbClr>
            </a:outerShdw>
          </a:effectLst>
        </p:spPr>
        <p:txBody>
          <a:bodyPr wrap="square" lIns="76200" tIns="76200" rIns="76200" bIns="76200" rtlCol="0" anchor="ctr"/>
          <a:lstStyle/>
          <a:p>
            <a:pPr algn="ctr" indent="0" marL="0">
              <a:buNone/>
            </a:pPr>
            <a:r>
              <a:rPr lang="en-US" sz="1600" b="1" dirty="0">
                <a:solidFill>
                  <a:schemeClr val="tx1"/>
                </a:solidFill>
              </a:rPr>
              <a:t>Group project slides</a:t>
            </a:r>
            <a:endParaRPr lang="en-US" sz="1600" dirty="0"/>
          </a:p>
        </p:txBody>
      </p:sp>
      <p:sp>
        <p:nvSpPr>
          <p:cNvPr id="15" name="Sticky note 3"/>
          <p:cNvSpPr txBox="1"/>
          <p:nvPr/>
        </p:nvSpPr>
        <p:spPr>
          <a:xfrm rot="120000">
            <a:off x="4572000" y="2423160"/>
            <a:ext cx="1828800" cy="868680"/>
          </a:xfrm>
          <a:prstGeom prst="rect">
            <a:avLst/>
          </a:prstGeom>
          <a:solidFill>
            <a:schemeClr val="accent5"/>
          </a:solidFill>
          <a:ln/>
          <a:effectLst>
            <a:outerShdw sx="100000" sy="100000" kx="0" ky="0" algn="bl" rotWithShape="0" blurRad="101600" dist="25400" dir="5400000">
              <a:srgbClr val="1F1A38">
                <a:alpha val="18000"/>
              </a:srgbClr>
            </a:outerShdw>
          </a:effectLst>
        </p:spPr>
        <p:txBody>
          <a:bodyPr wrap="square" lIns="76200" tIns="76200" rIns="76200" bIns="76200" rtlCol="0" anchor="ctr"/>
          <a:lstStyle/>
          <a:p>
            <a:pPr algn="ctr" indent="0" marL="0">
              <a:buNone/>
            </a:pPr>
            <a:r>
              <a:rPr lang="en-US" sz="1600" b="1" dirty="0">
                <a:solidFill>
                  <a:schemeClr val="tx1"/>
                </a:solidFill>
              </a:rPr>
              <a:t>Email professor</a:t>
            </a:r>
            <a:endParaRPr lang="en-US" sz="1600" dirty="0"/>
          </a:p>
        </p:txBody>
      </p:sp>
      <p:sp>
        <p:nvSpPr>
          <p:cNvPr id="16" name="Sticky note 4"/>
          <p:cNvSpPr txBox="1"/>
          <p:nvPr/>
        </p:nvSpPr>
        <p:spPr>
          <a:xfrm rot="-180000">
            <a:off x="6629400" y="2423160"/>
            <a:ext cx="1828800" cy="868680"/>
          </a:xfrm>
          <a:prstGeom prst="rect">
            <a:avLst/>
          </a:prstGeom>
          <a:solidFill>
            <a:schemeClr val="accent6"/>
          </a:solidFill>
          <a:ln/>
          <a:effectLst>
            <a:outerShdw sx="100000" sy="100000" kx="0" ky="0" algn="bl" rotWithShape="0" blurRad="101600" dist="25400" dir="5400000">
              <a:srgbClr val="1F1A38">
                <a:alpha val="18000"/>
              </a:srgbClr>
            </a:outerShdw>
          </a:effectLst>
        </p:spPr>
        <p:txBody>
          <a:bodyPr wrap="square" lIns="76200" tIns="76200" rIns="76200" bIns="76200" rtlCol="0" anchor="ctr"/>
          <a:lstStyle/>
          <a:p>
            <a:pPr algn="ctr" indent="0" marL="0">
              <a:buNone/>
            </a:pPr>
            <a:r>
              <a:rPr lang="en-US" sz="1600" b="1" dirty="0">
                <a:solidFill>
                  <a:schemeClr val="tx1"/>
                </a:solidFill>
              </a:rPr>
              <a:t>Buy textbook</a:t>
            </a:r>
            <a:endParaRPr lang="en-US" sz="1600" dirty="0"/>
          </a:p>
        </p:txBody>
      </p:sp>
      <p:sp>
        <p:nvSpPr>
          <p:cNvPr id="17" name="Sticky note 5"/>
          <p:cNvSpPr txBox="1"/>
          <p:nvPr/>
        </p:nvSpPr>
        <p:spPr>
          <a:xfrm rot="240000">
            <a:off x="4572000" y="3520440"/>
            <a:ext cx="1828800" cy="868680"/>
          </a:xfrm>
          <a:prstGeom prst="rect">
            <a:avLst/>
          </a:prstGeom>
          <a:solidFill>
            <a:schemeClr val="accent2"/>
          </a:solidFill>
          <a:ln/>
          <a:effectLst>
            <a:outerShdw sx="100000" sy="100000" kx="0" ky="0" algn="bl" rotWithShape="0" blurRad="101600" dist="25400" dir="5400000">
              <a:srgbClr val="1F1A38">
                <a:alpha val="18000"/>
              </a:srgbClr>
            </a:outerShdw>
          </a:effectLst>
        </p:spPr>
        <p:txBody>
          <a:bodyPr wrap="square" lIns="76200" tIns="76200" rIns="76200" bIns="76200" rtlCol="0" anchor="ctr"/>
          <a:lstStyle/>
          <a:p>
            <a:pPr algn="ctr" indent="0" marL="0">
              <a:buNone/>
            </a:pPr>
            <a:r>
              <a:rPr lang="en-US" sz="1600" b="1" dirty="0">
                <a:solidFill>
                  <a:schemeClr val="tx1"/>
                </a:solidFill>
              </a:rPr>
              <a:t>Gym</a:t>
            </a:r>
            <a:endParaRPr lang="en-US" sz="1600" dirty="0"/>
          </a:p>
        </p:txBody>
      </p:sp>
      <p:sp>
        <p:nvSpPr>
          <p:cNvPr id="18" name="Sticky note 6"/>
          <p:cNvSpPr txBox="1"/>
          <p:nvPr/>
        </p:nvSpPr>
        <p:spPr>
          <a:xfrm rot="-120000">
            <a:off x="6629400" y="3520440"/>
            <a:ext cx="1828800" cy="868680"/>
          </a:xfrm>
          <a:prstGeom prst="rect">
            <a:avLst/>
          </a:prstGeom>
          <a:solidFill>
            <a:schemeClr val="accent3"/>
          </a:solidFill>
          <a:ln/>
          <a:effectLst>
            <a:outerShdw sx="100000" sy="100000" kx="0" ky="0" algn="bl" rotWithShape="0" blurRad="101600" dist="25400" dir="5400000">
              <a:srgbClr val="1F1A38">
                <a:alpha val="18000"/>
              </a:srgbClr>
            </a:outerShdw>
          </a:effectLst>
        </p:spPr>
        <p:txBody>
          <a:bodyPr wrap="square" lIns="76200" tIns="76200" rIns="76200" bIns="76200" rtlCol="0" anchor="ctr"/>
          <a:lstStyle/>
          <a:p>
            <a:pPr algn="ctr" indent="0" marL="0">
              <a:buNone/>
            </a:pPr>
            <a:r>
              <a:rPr lang="en-US" sz="1600" b="1" dirty="0">
                <a:solidFill>
                  <a:schemeClr val="tx1"/>
                </a:solidFill>
              </a:rPr>
              <a:t>Laundry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6035040" cy="731520"/>
          </a:xfrm>
          <a:prstGeom prst="rect">
            <a:avLst/>
          </a:prstGeom>
          <a:noFill/>
          <a:ln/>
        </p:spPr>
        <p:txBody>
          <a:bodyPr wrap="square" lIns="0" tIns="0" rIns="0" bIns="0" rtlCol="0" anchor="ctr"/>
          <a:lstStyle/>
          <a:p>
            <a:pPr algn="l" indent="0" marL="0">
              <a:buNone/>
            </a:pPr>
            <a:r>
              <a:rPr lang="en-US" sz="3400" b="1" dirty="0">
                <a:solidFill>
                  <a:schemeClr val="tx1"/>
                </a:solidFill>
              </a:rPr>
              <a:t>Step 2 · SORT</a:t>
            </a:r>
            <a:endParaRPr lang="en-US" sz="3400" dirty="0"/>
          </a:p>
        </p:txBody>
      </p:sp>
      <p:sp>
        <p:nvSpPr>
          <p:cNvPr id="3" name="Step 1"/>
          <p:cNvSpPr/>
          <p:nvPr/>
        </p:nvSpPr>
        <p:spPr>
          <a:xfrm>
            <a:off x="6903720" y="457200"/>
            <a:ext cx="457200" cy="457200"/>
          </a:xfrm>
          <a:prstGeom prst="ellipse">
            <a:avLst/>
          </a:prstGeom>
          <a:solidFill>
            <a:schemeClr val="bg1"/>
          </a:solidFill>
          <a:ln w="19050">
            <a:solidFill>
              <a:schemeClr val="accent4"/>
            </a:solidFill>
            <a:prstDash val="solid"/>
          </a:ln>
        </p:spPr>
      </p:sp>
      <p:sp>
        <p:nvSpPr>
          <p:cNvPr id="4" name="Step 1 number"/>
          <p:cNvSpPr txBox="1"/>
          <p:nvPr/>
        </p:nvSpPr>
        <p:spPr>
          <a:xfrm>
            <a:off x="6903720" y="457200"/>
            <a:ext cx="457200" cy="457200"/>
          </a:xfrm>
          <a:prstGeom prst="rect">
            <a:avLst/>
          </a:prstGeom>
          <a:noFill/>
          <a:ln/>
        </p:spPr>
        <p:txBody>
          <a:bodyPr wrap="square" lIns="0" tIns="0" rIns="0" bIns="0" rtlCol="0" anchor="ctr"/>
          <a:lstStyle/>
          <a:p>
            <a:pPr algn="ctr" indent="0" marL="0">
              <a:buNone/>
            </a:pPr>
            <a:r>
              <a:rPr lang="en-US" sz="1600" b="1" dirty="0">
                <a:solidFill>
                  <a:schemeClr val="accent4"/>
                </a:solidFill>
              </a:rPr>
              <a:t>1</a:t>
            </a:r>
            <a:endParaRPr lang="en-US" sz="1600" dirty="0"/>
          </a:p>
        </p:txBody>
      </p:sp>
      <p:sp>
        <p:nvSpPr>
          <p:cNvPr id="5" name="Step 2"/>
          <p:cNvSpPr/>
          <p:nvPr/>
        </p:nvSpPr>
        <p:spPr>
          <a:xfrm>
            <a:off x="7470648" y="457200"/>
            <a:ext cx="457200" cy="457200"/>
          </a:xfrm>
          <a:prstGeom prst="ellipse">
            <a:avLst/>
          </a:prstGeom>
          <a:solidFill>
            <a:schemeClr val="accent1"/>
          </a:solidFill>
          <a:ln w="19050">
            <a:solidFill>
              <a:schemeClr val="accent1"/>
            </a:solidFill>
            <a:prstDash val="solid"/>
          </a:ln>
        </p:spPr>
      </p:sp>
      <p:sp>
        <p:nvSpPr>
          <p:cNvPr id="6" name="Step 2 number"/>
          <p:cNvSpPr txBox="1"/>
          <p:nvPr/>
        </p:nvSpPr>
        <p:spPr>
          <a:xfrm>
            <a:off x="7470648" y="457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Step 3"/>
          <p:cNvSpPr/>
          <p:nvPr/>
        </p:nvSpPr>
        <p:spPr>
          <a:xfrm>
            <a:off x="8037576" y="457200"/>
            <a:ext cx="457200" cy="457200"/>
          </a:xfrm>
          <a:prstGeom prst="ellipse">
            <a:avLst/>
          </a:prstGeom>
          <a:solidFill>
            <a:schemeClr val="bg1"/>
          </a:solidFill>
          <a:ln w="19050">
            <a:solidFill>
              <a:schemeClr val="accent4"/>
            </a:solidFill>
            <a:prstDash val="solid"/>
          </a:ln>
        </p:spPr>
      </p:sp>
      <p:sp>
        <p:nvSpPr>
          <p:cNvPr id="8" name="Step 3 number"/>
          <p:cNvSpPr txBox="1"/>
          <p:nvPr/>
        </p:nvSpPr>
        <p:spPr>
          <a:xfrm>
            <a:off x="8037576" y="457200"/>
            <a:ext cx="457200" cy="457200"/>
          </a:xfrm>
          <a:prstGeom prst="rect">
            <a:avLst/>
          </a:prstGeom>
          <a:noFill/>
          <a:ln/>
        </p:spPr>
        <p:txBody>
          <a:bodyPr wrap="square" lIns="0" tIns="0" rIns="0" bIns="0" rtlCol="0" anchor="ctr"/>
          <a:lstStyle/>
          <a:p>
            <a:pPr algn="ctr" indent="0" marL="0">
              <a:buNone/>
            </a:pPr>
            <a:r>
              <a:rPr lang="en-US" sz="1600" b="1" dirty="0">
                <a:solidFill>
                  <a:schemeClr val="accent4"/>
                </a:solidFill>
              </a:rPr>
              <a:t>3</a:t>
            </a:r>
            <a:endParaRPr lang="en-US" sz="1600" dirty="0"/>
          </a:p>
        </p:txBody>
      </p:sp>
      <p:sp>
        <p:nvSpPr>
          <p:cNvPr id="9" name="Column label 1"/>
          <p:cNvSpPr txBox="1"/>
          <p:nvPr/>
        </p:nvSpPr>
        <p:spPr>
          <a:xfrm>
            <a:off x="1371600" y="1207008"/>
            <a:ext cx="3566160" cy="292608"/>
          </a:xfrm>
          <a:prstGeom prst="rect">
            <a:avLst/>
          </a:prstGeom>
          <a:noFill/>
          <a:ln/>
        </p:spPr>
        <p:txBody>
          <a:bodyPr wrap="square" lIns="0" tIns="0" rIns="0" bIns="0" rtlCol="0" anchor="ctr"/>
          <a:lstStyle/>
          <a:p>
            <a:pPr algn="ctr" indent="0" marL="0">
              <a:buNone/>
            </a:pPr>
            <a:r>
              <a:rPr lang="en-US" sz="1300" b="1" dirty="0">
                <a:solidFill>
                  <a:schemeClr val="accent4"/>
                </a:solidFill>
              </a:rPr>
              <a:t>URGENT</a:t>
            </a:r>
            <a:endParaRPr lang="en-US" sz="1300" dirty="0"/>
          </a:p>
        </p:txBody>
      </p:sp>
      <p:sp>
        <p:nvSpPr>
          <p:cNvPr id="10" name="Column label 2"/>
          <p:cNvSpPr txBox="1"/>
          <p:nvPr/>
        </p:nvSpPr>
        <p:spPr>
          <a:xfrm>
            <a:off x="5029200" y="1207008"/>
            <a:ext cx="3566160" cy="292608"/>
          </a:xfrm>
          <a:prstGeom prst="rect">
            <a:avLst/>
          </a:prstGeom>
          <a:noFill/>
          <a:ln/>
        </p:spPr>
        <p:txBody>
          <a:bodyPr wrap="square" lIns="0" tIns="0" rIns="0" bIns="0" rtlCol="0" anchor="ctr"/>
          <a:lstStyle/>
          <a:p>
            <a:pPr algn="ctr" indent="0" marL="0">
              <a:buNone/>
            </a:pPr>
            <a:r>
              <a:rPr lang="en-US" sz="1300" b="1" dirty="0">
                <a:solidFill>
                  <a:schemeClr val="accent4"/>
                </a:solidFill>
              </a:rPr>
              <a:t>NOT URGENT</a:t>
            </a:r>
            <a:endParaRPr lang="en-US" sz="1300" dirty="0"/>
          </a:p>
        </p:txBody>
      </p:sp>
      <p:sp>
        <p:nvSpPr>
          <p:cNvPr id="11" name="Row label 1"/>
          <p:cNvSpPr txBox="1"/>
          <p:nvPr/>
        </p:nvSpPr>
        <p:spPr>
          <a:xfrm rot="16200000">
            <a:off x="45720" y="2075688"/>
            <a:ext cx="1645920" cy="329184"/>
          </a:xfrm>
          <a:prstGeom prst="rect">
            <a:avLst/>
          </a:prstGeom>
          <a:noFill/>
          <a:ln/>
        </p:spPr>
        <p:txBody>
          <a:bodyPr wrap="square" lIns="0" tIns="0" rIns="0" bIns="0" rtlCol="0" anchor="ctr"/>
          <a:lstStyle/>
          <a:p>
            <a:pPr algn="ctr" indent="0" marL="0">
              <a:buNone/>
            </a:pPr>
            <a:r>
              <a:rPr lang="en-US" sz="1300" b="1" dirty="0">
                <a:solidFill>
                  <a:schemeClr val="accent4"/>
                </a:solidFill>
              </a:rPr>
              <a:t>IMPORTANT</a:t>
            </a:r>
            <a:endParaRPr lang="en-US" sz="1300" dirty="0"/>
          </a:p>
        </p:txBody>
      </p:sp>
      <p:sp>
        <p:nvSpPr>
          <p:cNvPr id="12" name="Row label 2"/>
          <p:cNvSpPr txBox="1"/>
          <p:nvPr/>
        </p:nvSpPr>
        <p:spPr>
          <a:xfrm rot="16200000">
            <a:off x="45720" y="3538728"/>
            <a:ext cx="1645920" cy="329184"/>
          </a:xfrm>
          <a:prstGeom prst="rect">
            <a:avLst/>
          </a:prstGeom>
          <a:noFill/>
          <a:ln/>
        </p:spPr>
        <p:txBody>
          <a:bodyPr wrap="square" lIns="0" tIns="0" rIns="0" bIns="0" rtlCol="0" anchor="ctr"/>
          <a:lstStyle/>
          <a:p>
            <a:pPr algn="ctr" indent="0" marL="0">
              <a:buNone/>
            </a:pPr>
            <a:r>
              <a:rPr lang="en-US" sz="1300" b="1" dirty="0">
                <a:solidFill>
                  <a:schemeClr val="accent4"/>
                </a:solidFill>
              </a:rPr>
              <a:t>NOT IMPORTANT</a:t>
            </a:r>
            <a:endParaRPr lang="en-US" sz="1300" dirty="0"/>
          </a:p>
        </p:txBody>
      </p:sp>
      <p:sp>
        <p:nvSpPr>
          <p:cNvPr id="13" name="Cell DO NOW"/>
          <p:cNvSpPr/>
          <p:nvPr/>
        </p:nvSpPr>
        <p:spPr>
          <a:xfrm>
            <a:off x="1371600" y="1554480"/>
            <a:ext cx="3566160" cy="1371600"/>
          </a:xfrm>
          <a:prstGeom prst="roundRect">
            <a:avLst>
              <a:gd name="adj" fmla="val 10000"/>
            </a:avLst>
          </a:prstGeom>
          <a:solidFill>
            <a:schemeClr val="accent1"/>
          </a:solidFill>
          <a:ln w="12700">
            <a:solidFill>
              <a:schemeClr val="accent1"/>
            </a:solidFill>
            <a:prstDash val="solid"/>
          </a:ln>
          <a:effectLst>
            <a:outerShdw sx="100000" sy="100000" kx="0" ky="0" algn="bl" rotWithShape="0" blurRad="101600" dist="25400" dir="5400000">
              <a:srgbClr val="1F1A38">
                <a:alpha val="18000"/>
              </a:srgbClr>
            </a:outerShdw>
          </a:effectLst>
        </p:spPr>
      </p:sp>
      <p:sp>
        <p:nvSpPr>
          <p:cNvPr id="14" name="Cell text DO NOW"/>
          <p:cNvSpPr txBox="1"/>
          <p:nvPr/>
        </p:nvSpPr>
        <p:spPr>
          <a:xfrm>
            <a:off x="1645920" y="1554480"/>
            <a:ext cx="3017520" cy="1371600"/>
          </a:xfrm>
          <a:prstGeom prst="rect">
            <a:avLst/>
          </a:prstGeom>
          <a:noFill/>
          <a:ln/>
        </p:spPr>
        <p:txBody>
          <a:bodyPr wrap="square" lIns="0" tIns="0" rIns="0" bIns="0" rtlCol="0" anchor="ctr"/>
          <a:lstStyle/>
          <a:p>
            <a:pPr indent="0" marL="0">
              <a:buNone/>
            </a:pPr>
            <a:r>
              <a:rPr lang="en-US" sz="2200" b="1" dirty="0">
                <a:solidFill>
                  <a:schemeClr val="bg1"/>
                </a:solidFill>
              </a:rPr>
              <a:t>DO NOW</a:t>
            </a:r>
            <a:endParaRPr lang="en-US" sz="2200" dirty="0"/>
          </a:p>
          <a:p>
            <a:pPr indent="0" marL="0">
              <a:buNone/>
            </a:pPr>
            <a:r>
              <a:rPr lang="en-US" sz="1600" dirty="0">
                <a:solidFill>
                  <a:schemeClr val="bg1"/>
                </a:solidFill>
              </a:rPr>
              <a:t>Essay due tomorrow</a:t>
            </a:r>
            <a:endParaRPr lang="en-US" sz="2200" dirty="0"/>
          </a:p>
        </p:txBody>
      </p:sp>
      <p:sp>
        <p:nvSpPr>
          <p:cNvPr id="15" name="Cell SCHEDULE"/>
          <p:cNvSpPr/>
          <p:nvPr/>
        </p:nvSpPr>
        <p:spPr>
          <a:xfrm>
            <a:off x="5029200" y="1554480"/>
            <a:ext cx="3566160" cy="1371600"/>
          </a:xfrm>
          <a:prstGeom prst="roundRect">
            <a:avLst>
              <a:gd name="adj" fmla="val 10000"/>
            </a:avLst>
          </a:prstGeom>
          <a:solidFill>
            <a:schemeClr val="accent3"/>
          </a:solidFill>
          <a:ln w="12700">
            <a:solidFill>
              <a:schemeClr val="accent3"/>
            </a:solidFill>
            <a:prstDash val="solid"/>
          </a:ln>
          <a:effectLst>
            <a:outerShdw sx="100000" sy="100000" kx="0" ky="0" algn="bl" rotWithShape="0" blurRad="101600" dist="25400" dir="5400000">
              <a:srgbClr val="1F1A38">
                <a:alpha val="18000"/>
              </a:srgbClr>
            </a:outerShdw>
          </a:effectLst>
        </p:spPr>
      </p:sp>
      <p:sp>
        <p:nvSpPr>
          <p:cNvPr id="16" name="Cell text SCHEDULE"/>
          <p:cNvSpPr txBox="1"/>
          <p:nvPr/>
        </p:nvSpPr>
        <p:spPr>
          <a:xfrm>
            <a:off x="5303520" y="1554480"/>
            <a:ext cx="3017520" cy="1371600"/>
          </a:xfrm>
          <a:prstGeom prst="rect">
            <a:avLst/>
          </a:prstGeom>
          <a:noFill/>
          <a:ln/>
        </p:spPr>
        <p:txBody>
          <a:bodyPr wrap="square" lIns="0" tIns="0" rIns="0" bIns="0" rtlCol="0" anchor="ctr"/>
          <a:lstStyle/>
          <a:p>
            <a:pPr indent="0" marL="0">
              <a:buNone/>
            </a:pPr>
            <a:r>
              <a:rPr lang="en-US" sz="2200" b="1" dirty="0">
                <a:solidFill>
                  <a:schemeClr val="tx1"/>
                </a:solidFill>
              </a:rPr>
              <a:t>SCHEDULE</a:t>
            </a:r>
            <a:endParaRPr lang="en-US" sz="2200" dirty="0"/>
          </a:p>
          <a:p>
            <a:pPr indent="0" marL="0">
              <a:buNone/>
            </a:pPr>
            <a:r>
              <a:rPr lang="en-US" sz="1600" dirty="0">
                <a:solidFill>
                  <a:schemeClr val="tx1"/>
                </a:solidFill>
              </a:rPr>
              <a:t>Study for the midterm</a:t>
            </a:r>
            <a:endParaRPr lang="en-US" sz="2200" dirty="0"/>
          </a:p>
        </p:txBody>
      </p:sp>
      <p:sp>
        <p:nvSpPr>
          <p:cNvPr id="17" name="Cell HAND OFF"/>
          <p:cNvSpPr/>
          <p:nvPr/>
        </p:nvSpPr>
        <p:spPr>
          <a:xfrm>
            <a:off x="1371600" y="3017520"/>
            <a:ext cx="3566160" cy="1371600"/>
          </a:xfrm>
          <a:prstGeom prst="roundRect">
            <a:avLst>
              <a:gd name="adj" fmla="val 10000"/>
            </a:avLst>
          </a:prstGeom>
          <a:solidFill>
            <a:schemeClr val="accent2"/>
          </a:solidFill>
          <a:ln w="12700">
            <a:solidFill>
              <a:schemeClr val="accent2"/>
            </a:solidFill>
            <a:prstDash val="solid"/>
          </a:ln>
          <a:effectLst>
            <a:outerShdw sx="100000" sy="100000" kx="0" ky="0" algn="bl" rotWithShape="0" blurRad="101600" dist="25400" dir="5400000">
              <a:srgbClr val="1F1A38">
                <a:alpha val="18000"/>
              </a:srgbClr>
            </a:outerShdw>
          </a:effectLst>
        </p:spPr>
      </p:sp>
      <p:sp>
        <p:nvSpPr>
          <p:cNvPr id="18" name="Cell text HAND OFF"/>
          <p:cNvSpPr txBox="1"/>
          <p:nvPr/>
        </p:nvSpPr>
        <p:spPr>
          <a:xfrm>
            <a:off x="1645920" y="3017520"/>
            <a:ext cx="3017520" cy="1371600"/>
          </a:xfrm>
          <a:prstGeom prst="rect">
            <a:avLst/>
          </a:prstGeom>
          <a:noFill/>
          <a:ln/>
        </p:spPr>
        <p:txBody>
          <a:bodyPr wrap="square" lIns="0" tIns="0" rIns="0" bIns="0" rtlCol="0" anchor="ctr"/>
          <a:lstStyle/>
          <a:p>
            <a:pPr indent="0" marL="0">
              <a:buNone/>
            </a:pPr>
            <a:r>
              <a:rPr lang="en-US" sz="2200" b="1" dirty="0">
                <a:solidFill>
                  <a:schemeClr val="tx1"/>
                </a:solidFill>
              </a:rPr>
              <a:t>HAND OFF</a:t>
            </a:r>
            <a:endParaRPr lang="en-US" sz="2200" dirty="0"/>
          </a:p>
          <a:p>
            <a:pPr indent="0" marL="0">
              <a:buNone/>
            </a:pPr>
            <a:r>
              <a:rPr lang="en-US" sz="1600" dirty="0">
                <a:solidFill>
                  <a:schemeClr val="tx1"/>
                </a:solidFill>
              </a:rPr>
              <a:t>Quick reply to the group chat</a:t>
            </a:r>
            <a:endParaRPr lang="en-US" sz="2200" dirty="0"/>
          </a:p>
        </p:txBody>
      </p:sp>
      <p:sp>
        <p:nvSpPr>
          <p:cNvPr id="19" name="Cell DELETE"/>
          <p:cNvSpPr/>
          <p:nvPr/>
        </p:nvSpPr>
        <p:spPr>
          <a:xfrm>
            <a:off x="5029200" y="3017520"/>
            <a:ext cx="3566160" cy="1371600"/>
          </a:xfrm>
          <a:prstGeom prst="roundRect">
            <a:avLst>
              <a:gd name="adj" fmla="val 10000"/>
            </a:avLst>
          </a:prstGeom>
          <a:solidFill>
            <a:schemeClr val="tx2"/>
          </a:solidFill>
          <a:ln w="12700">
            <a:solidFill>
              <a:schemeClr val="tx2"/>
            </a:solidFill>
            <a:prstDash val="solid"/>
          </a:ln>
          <a:effectLst>
            <a:outerShdw sx="100000" sy="100000" kx="0" ky="0" algn="bl" rotWithShape="0" blurRad="101600" dist="25400" dir="5400000">
              <a:srgbClr val="1F1A38">
                <a:alpha val="18000"/>
              </a:srgbClr>
            </a:outerShdw>
          </a:effectLst>
        </p:spPr>
      </p:sp>
      <p:sp>
        <p:nvSpPr>
          <p:cNvPr id="20" name="Cell text DELETE"/>
          <p:cNvSpPr txBox="1"/>
          <p:nvPr/>
        </p:nvSpPr>
        <p:spPr>
          <a:xfrm>
            <a:off x="5303520" y="3017520"/>
            <a:ext cx="3017520" cy="1371600"/>
          </a:xfrm>
          <a:prstGeom prst="rect">
            <a:avLst/>
          </a:prstGeom>
          <a:noFill/>
          <a:ln/>
        </p:spPr>
        <p:txBody>
          <a:bodyPr wrap="square" lIns="0" tIns="0" rIns="0" bIns="0" rtlCol="0" anchor="ctr"/>
          <a:lstStyle/>
          <a:p>
            <a:pPr indent="0" marL="0">
              <a:buNone/>
            </a:pPr>
            <a:r>
              <a:rPr lang="en-US" sz="2200" b="1" dirty="0">
                <a:solidFill>
                  <a:schemeClr val="bg1"/>
                </a:solidFill>
              </a:rPr>
              <a:t>DELETE</a:t>
            </a:r>
            <a:endParaRPr lang="en-US" sz="2200" dirty="0"/>
          </a:p>
          <a:p>
            <a:pPr indent="0" marL="0">
              <a:buNone/>
            </a:pPr>
            <a:r>
              <a:rPr lang="en-US" sz="1600" dirty="0">
                <a:solidFill>
                  <a:schemeClr val="bg1"/>
                </a:solidFill>
              </a:rPr>
              <a:t>Endless scrolling</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6035040" cy="731520"/>
          </a:xfrm>
          <a:prstGeom prst="rect">
            <a:avLst/>
          </a:prstGeom>
          <a:noFill/>
          <a:ln/>
        </p:spPr>
        <p:txBody>
          <a:bodyPr wrap="square" lIns="0" tIns="0" rIns="0" bIns="0" rtlCol="0" anchor="ctr"/>
          <a:lstStyle/>
          <a:p>
            <a:pPr algn="l" indent="0" marL="0">
              <a:buNone/>
            </a:pPr>
            <a:r>
              <a:rPr lang="en-US" sz="3400" b="1" dirty="0">
                <a:solidFill>
                  <a:schemeClr val="tx1"/>
                </a:solidFill>
              </a:rPr>
              <a:t>Step 3 · BLOCK</a:t>
            </a:r>
            <a:endParaRPr lang="en-US" sz="3400" dirty="0"/>
          </a:p>
        </p:txBody>
      </p:sp>
      <p:sp>
        <p:nvSpPr>
          <p:cNvPr id="3" name="Step 1"/>
          <p:cNvSpPr/>
          <p:nvPr/>
        </p:nvSpPr>
        <p:spPr>
          <a:xfrm>
            <a:off x="6903720" y="457200"/>
            <a:ext cx="457200" cy="457200"/>
          </a:xfrm>
          <a:prstGeom prst="ellipse">
            <a:avLst/>
          </a:prstGeom>
          <a:solidFill>
            <a:schemeClr val="bg1"/>
          </a:solidFill>
          <a:ln w="19050">
            <a:solidFill>
              <a:schemeClr val="accent4"/>
            </a:solidFill>
            <a:prstDash val="solid"/>
          </a:ln>
        </p:spPr>
      </p:sp>
      <p:sp>
        <p:nvSpPr>
          <p:cNvPr id="4" name="Step 1 number"/>
          <p:cNvSpPr txBox="1"/>
          <p:nvPr/>
        </p:nvSpPr>
        <p:spPr>
          <a:xfrm>
            <a:off x="6903720" y="457200"/>
            <a:ext cx="457200" cy="457200"/>
          </a:xfrm>
          <a:prstGeom prst="rect">
            <a:avLst/>
          </a:prstGeom>
          <a:noFill/>
          <a:ln/>
        </p:spPr>
        <p:txBody>
          <a:bodyPr wrap="square" lIns="0" tIns="0" rIns="0" bIns="0" rtlCol="0" anchor="ctr"/>
          <a:lstStyle/>
          <a:p>
            <a:pPr algn="ctr" indent="0" marL="0">
              <a:buNone/>
            </a:pPr>
            <a:r>
              <a:rPr lang="en-US" sz="1600" b="1" dirty="0">
                <a:solidFill>
                  <a:schemeClr val="accent4"/>
                </a:solidFill>
              </a:rPr>
              <a:t>1</a:t>
            </a:r>
            <a:endParaRPr lang="en-US" sz="1600" dirty="0"/>
          </a:p>
        </p:txBody>
      </p:sp>
      <p:sp>
        <p:nvSpPr>
          <p:cNvPr id="5" name="Step 2"/>
          <p:cNvSpPr/>
          <p:nvPr/>
        </p:nvSpPr>
        <p:spPr>
          <a:xfrm>
            <a:off x="7470648" y="457200"/>
            <a:ext cx="457200" cy="457200"/>
          </a:xfrm>
          <a:prstGeom prst="ellipse">
            <a:avLst/>
          </a:prstGeom>
          <a:solidFill>
            <a:schemeClr val="bg1"/>
          </a:solidFill>
          <a:ln w="19050">
            <a:solidFill>
              <a:schemeClr val="accent4"/>
            </a:solidFill>
            <a:prstDash val="solid"/>
          </a:ln>
        </p:spPr>
      </p:sp>
      <p:sp>
        <p:nvSpPr>
          <p:cNvPr id="6" name="Step 2 number"/>
          <p:cNvSpPr txBox="1"/>
          <p:nvPr/>
        </p:nvSpPr>
        <p:spPr>
          <a:xfrm>
            <a:off x="7470648" y="457200"/>
            <a:ext cx="457200" cy="457200"/>
          </a:xfrm>
          <a:prstGeom prst="rect">
            <a:avLst/>
          </a:prstGeom>
          <a:noFill/>
          <a:ln/>
        </p:spPr>
        <p:txBody>
          <a:bodyPr wrap="square" lIns="0" tIns="0" rIns="0" bIns="0" rtlCol="0" anchor="ctr"/>
          <a:lstStyle/>
          <a:p>
            <a:pPr algn="ctr" indent="0" marL="0">
              <a:buNone/>
            </a:pPr>
            <a:r>
              <a:rPr lang="en-US" sz="1600" b="1" dirty="0">
                <a:solidFill>
                  <a:schemeClr val="accent4"/>
                </a:solidFill>
              </a:rPr>
              <a:t>2</a:t>
            </a:r>
            <a:endParaRPr lang="en-US" sz="1600" dirty="0"/>
          </a:p>
        </p:txBody>
      </p:sp>
      <p:sp>
        <p:nvSpPr>
          <p:cNvPr id="7" name="Step 3"/>
          <p:cNvSpPr/>
          <p:nvPr/>
        </p:nvSpPr>
        <p:spPr>
          <a:xfrm>
            <a:off x="8037576" y="457200"/>
            <a:ext cx="457200" cy="457200"/>
          </a:xfrm>
          <a:prstGeom prst="ellipse">
            <a:avLst/>
          </a:prstGeom>
          <a:solidFill>
            <a:schemeClr val="accent1"/>
          </a:solidFill>
          <a:ln w="19050">
            <a:solidFill>
              <a:schemeClr val="accent1"/>
            </a:solidFill>
            <a:prstDash val="solid"/>
          </a:ln>
        </p:spPr>
      </p:sp>
      <p:sp>
        <p:nvSpPr>
          <p:cNvPr id="8" name="Step 3 number"/>
          <p:cNvSpPr txBox="1"/>
          <p:nvPr/>
        </p:nvSpPr>
        <p:spPr>
          <a:xfrm>
            <a:off x="8037576" y="457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Step 3 message"/>
          <p:cNvSpPr txBox="1"/>
          <p:nvPr/>
        </p:nvSpPr>
        <p:spPr>
          <a:xfrm>
            <a:off x="548640" y="1234440"/>
            <a:ext cx="8046720" cy="822960"/>
          </a:xfrm>
          <a:prstGeom prst="rect">
            <a:avLst/>
          </a:prstGeom>
          <a:noFill/>
          <a:ln/>
        </p:spPr>
        <p:txBody>
          <a:bodyPr wrap="square" lIns="0" tIns="0" rIns="0" bIns="0" rtlCol="0" anchor="ctr"/>
          <a:lstStyle/>
          <a:p>
            <a:pPr indent="0" marL="0">
              <a:buNone/>
            </a:pPr>
            <a:r>
              <a:rPr lang="en-US" sz="3000" b="1" dirty="0">
                <a:solidFill>
                  <a:schemeClr val="tx1"/>
                </a:solidFill>
              </a:rPr>
              <a:t>A task without a time is just a wish.</a:t>
            </a:r>
            <a:endParaRPr lang="en-US" sz="3000" dirty="0"/>
          </a:p>
        </p:txBody>
      </p:sp>
      <p:sp>
        <p:nvSpPr>
          <p:cNvPr id="10" name="Focus block 1"/>
          <p:cNvSpPr txBox="1"/>
          <p:nvPr/>
        </p:nvSpPr>
        <p:spPr>
          <a:xfrm>
            <a:off x="640080" y="2514600"/>
            <a:ext cx="1188720" cy="1051560"/>
          </a:xfrm>
          <a:prstGeom prst="rect">
            <a:avLst/>
          </a:prstGeom>
          <a:solidFill>
            <a:schemeClr val="accent1"/>
          </a:solidFill>
          <a:ln/>
          <a:effectLst>
            <a:outerShdw sx="100000" sy="100000" kx="0" ky="0" algn="bl" rotWithShape="0" blurRad="101600" dist="25400" dir="5400000">
              <a:srgbClr val="1F1A38">
                <a:alpha val="18000"/>
              </a:srgbClr>
            </a:outerShdw>
          </a:effectLst>
        </p:spPr>
        <p:txBody>
          <a:bodyPr wrap="square" lIns="0" tIns="0" rIns="0" bIns="0" rtlCol="0" anchor="ctr"/>
          <a:lstStyle/>
          <a:p>
            <a:pPr algn="ctr" indent="0" marL="0">
              <a:buNone/>
            </a:pPr>
            <a:r>
              <a:rPr lang="en-US" sz="1400" b="1" dirty="0">
                <a:solidFill>
                  <a:schemeClr val="bg1"/>
                </a:solidFill>
              </a:rPr>
              <a:t>FOCUS</a:t>
            </a:r>
            <a:endParaRPr lang="en-US" sz="1400" dirty="0"/>
          </a:p>
          <a:p>
            <a:pPr algn="ctr" indent="0" marL="0">
              <a:buNone/>
            </a:pPr>
            <a:r>
              <a:rPr lang="en-US" sz="1600" dirty="0">
                <a:solidFill>
                  <a:schemeClr val="bg1"/>
                </a:solidFill>
              </a:rPr>
              <a:t>25 min</a:t>
            </a:r>
            <a:endParaRPr lang="en-US" sz="1400" dirty="0"/>
          </a:p>
        </p:txBody>
      </p:sp>
      <p:sp>
        <p:nvSpPr>
          <p:cNvPr id="11" name="Break 1"/>
          <p:cNvSpPr txBox="1"/>
          <p:nvPr/>
        </p:nvSpPr>
        <p:spPr>
          <a:xfrm>
            <a:off x="1901952" y="2788920"/>
            <a:ext cx="502920" cy="502920"/>
          </a:xfrm>
          <a:prstGeom prst="rect">
            <a:avLst/>
          </a:prstGeom>
          <a:solidFill>
            <a:schemeClr val="accent3"/>
          </a:solid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12" name="Focus block 2"/>
          <p:cNvSpPr txBox="1"/>
          <p:nvPr/>
        </p:nvSpPr>
        <p:spPr>
          <a:xfrm>
            <a:off x="2478024" y="2514600"/>
            <a:ext cx="1188720" cy="1051560"/>
          </a:xfrm>
          <a:prstGeom prst="rect">
            <a:avLst/>
          </a:prstGeom>
          <a:solidFill>
            <a:schemeClr val="accent1"/>
          </a:solidFill>
          <a:ln/>
          <a:effectLst>
            <a:outerShdw sx="100000" sy="100000" kx="0" ky="0" algn="bl" rotWithShape="0" blurRad="101600" dist="25400" dir="5400000">
              <a:srgbClr val="1F1A38">
                <a:alpha val="18000"/>
              </a:srgbClr>
            </a:outerShdw>
          </a:effectLst>
        </p:spPr>
        <p:txBody>
          <a:bodyPr wrap="square" lIns="0" tIns="0" rIns="0" bIns="0" rtlCol="0" anchor="ctr"/>
          <a:lstStyle/>
          <a:p>
            <a:pPr algn="ctr" indent="0" marL="0">
              <a:buNone/>
            </a:pPr>
            <a:r>
              <a:rPr lang="en-US" sz="1400" b="1" dirty="0">
                <a:solidFill>
                  <a:schemeClr val="bg1"/>
                </a:solidFill>
              </a:rPr>
              <a:t>FOCUS</a:t>
            </a:r>
            <a:endParaRPr lang="en-US" sz="1400" dirty="0"/>
          </a:p>
          <a:p>
            <a:pPr algn="ctr" indent="0" marL="0">
              <a:buNone/>
            </a:pPr>
            <a:r>
              <a:rPr lang="en-US" sz="1600" dirty="0">
                <a:solidFill>
                  <a:schemeClr val="bg1"/>
                </a:solidFill>
              </a:rPr>
              <a:t>25 min</a:t>
            </a:r>
            <a:endParaRPr lang="en-US" sz="1400" dirty="0"/>
          </a:p>
        </p:txBody>
      </p:sp>
      <p:sp>
        <p:nvSpPr>
          <p:cNvPr id="13" name="Break 2"/>
          <p:cNvSpPr txBox="1"/>
          <p:nvPr/>
        </p:nvSpPr>
        <p:spPr>
          <a:xfrm>
            <a:off x="3739896" y="2788920"/>
            <a:ext cx="502920" cy="502920"/>
          </a:xfrm>
          <a:prstGeom prst="rect">
            <a:avLst/>
          </a:prstGeom>
          <a:solidFill>
            <a:schemeClr val="accent3"/>
          </a:solid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14" name="Focus block 3"/>
          <p:cNvSpPr txBox="1"/>
          <p:nvPr/>
        </p:nvSpPr>
        <p:spPr>
          <a:xfrm>
            <a:off x="4315968" y="2514600"/>
            <a:ext cx="1188720" cy="1051560"/>
          </a:xfrm>
          <a:prstGeom prst="rect">
            <a:avLst/>
          </a:prstGeom>
          <a:solidFill>
            <a:schemeClr val="accent1"/>
          </a:solidFill>
          <a:ln/>
          <a:effectLst>
            <a:outerShdw sx="100000" sy="100000" kx="0" ky="0" algn="bl" rotWithShape="0" blurRad="101600" dist="25400" dir="5400000">
              <a:srgbClr val="1F1A38">
                <a:alpha val="18000"/>
              </a:srgbClr>
            </a:outerShdw>
          </a:effectLst>
        </p:spPr>
        <p:txBody>
          <a:bodyPr wrap="square" lIns="0" tIns="0" rIns="0" bIns="0" rtlCol="0" anchor="ctr"/>
          <a:lstStyle/>
          <a:p>
            <a:pPr algn="ctr" indent="0" marL="0">
              <a:buNone/>
            </a:pPr>
            <a:r>
              <a:rPr lang="en-US" sz="1400" b="1" dirty="0">
                <a:solidFill>
                  <a:schemeClr val="bg1"/>
                </a:solidFill>
              </a:rPr>
              <a:t>FOCUS</a:t>
            </a:r>
            <a:endParaRPr lang="en-US" sz="1400" dirty="0"/>
          </a:p>
          <a:p>
            <a:pPr algn="ctr" indent="0" marL="0">
              <a:buNone/>
            </a:pPr>
            <a:r>
              <a:rPr lang="en-US" sz="1600" dirty="0">
                <a:solidFill>
                  <a:schemeClr val="bg1"/>
                </a:solidFill>
              </a:rPr>
              <a:t>25 min</a:t>
            </a:r>
            <a:endParaRPr lang="en-US" sz="1400" dirty="0"/>
          </a:p>
        </p:txBody>
      </p:sp>
      <p:sp>
        <p:nvSpPr>
          <p:cNvPr id="15" name="Break 3"/>
          <p:cNvSpPr txBox="1"/>
          <p:nvPr/>
        </p:nvSpPr>
        <p:spPr>
          <a:xfrm>
            <a:off x="5577840" y="2788920"/>
            <a:ext cx="502920" cy="502920"/>
          </a:xfrm>
          <a:prstGeom prst="rect">
            <a:avLst/>
          </a:prstGeom>
          <a:solidFill>
            <a:schemeClr val="accent3"/>
          </a:solid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16" name="Focus block 4"/>
          <p:cNvSpPr txBox="1"/>
          <p:nvPr/>
        </p:nvSpPr>
        <p:spPr>
          <a:xfrm>
            <a:off x="6153912" y="2514600"/>
            <a:ext cx="1188720" cy="1051560"/>
          </a:xfrm>
          <a:prstGeom prst="rect">
            <a:avLst/>
          </a:prstGeom>
          <a:solidFill>
            <a:schemeClr val="accent1"/>
          </a:solidFill>
          <a:ln/>
          <a:effectLst>
            <a:outerShdw sx="100000" sy="100000" kx="0" ky="0" algn="bl" rotWithShape="0" blurRad="101600" dist="25400" dir="5400000">
              <a:srgbClr val="1F1A38">
                <a:alpha val="18000"/>
              </a:srgbClr>
            </a:outerShdw>
          </a:effectLst>
        </p:spPr>
        <p:txBody>
          <a:bodyPr wrap="square" lIns="0" tIns="0" rIns="0" bIns="0" rtlCol="0" anchor="ctr"/>
          <a:lstStyle/>
          <a:p>
            <a:pPr algn="ctr" indent="0" marL="0">
              <a:buNone/>
            </a:pPr>
            <a:r>
              <a:rPr lang="en-US" sz="1400" b="1" dirty="0">
                <a:solidFill>
                  <a:schemeClr val="bg1"/>
                </a:solidFill>
              </a:rPr>
              <a:t>FOCUS</a:t>
            </a:r>
            <a:endParaRPr lang="en-US" sz="1400" dirty="0"/>
          </a:p>
          <a:p>
            <a:pPr algn="ctr" indent="0" marL="0">
              <a:buNone/>
            </a:pPr>
            <a:r>
              <a:rPr lang="en-US" sz="1600" dirty="0">
                <a:solidFill>
                  <a:schemeClr val="bg1"/>
                </a:solidFill>
              </a:rPr>
              <a:t>25 min</a:t>
            </a:r>
            <a:endParaRPr lang="en-US" sz="1400" dirty="0"/>
          </a:p>
        </p:txBody>
      </p:sp>
      <p:sp>
        <p:nvSpPr>
          <p:cNvPr id="17" name="Long break"/>
          <p:cNvSpPr txBox="1"/>
          <p:nvPr/>
        </p:nvSpPr>
        <p:spPr>
          <a:xfrm>
            <a:off x="7415784" y="2514600"/>
            <a:ext cx="1097280" cy="1051560"/>
          </a:xfrm>
          <a:prstGeom prst="rect">
            <a:avLst/>
          </a:prstGeom>
          <a:solidFill>
            <a:schemeClr val="accent2"/>
          </a:solidFill>
          <a:ln/>
          <a:effectLst>
            <a:outerShdw sx="100000" sy="100000" kx="0" ky="0" algn="bl" rotWithShape="0" blurRad="101600" dist="25400" dir="5400000">
              <a:srgbClr val="1F1A38">
                <a:alpha val="18000"/>
              </a:srgbClr>
            </a:outerShdw>
          </a:effectLst>
        </p:spPr>
        <p:txBody>
          <a:bodyPr wrap="square" lIns="0" tIns="0" rIns="0" bIns="0" rtlCol="0" anchor="ctr"/>
          <a:lstStyle/>
          <a:p>
            <a:pPr algn="ctr" indent="0" marL="0">
              <a:buNone/>
            </a:pPr>
            <a:r>
              <a:rPr lang="en-US" sz="1400" b="1" dirty="0">
                <a:solidFill>
                  <a:schemeClr val="tx1"/>
                </a:solidFill>
              </a:rPr>
              <a:t>LONG</a:t>
            </a:r>
            <a:endParaRPr lang="en-US" sz="1400" dirty="0"/>
          </a:p>
          <a:p>
            <a:pPr algn="ctr" indent="0" marL="0">
              <a:buNone/>
            </a:pPr>
            <a:r>
              <a:rPr lang="en-US" sz="1600" dirty="0">
                <a:solidFill>
                  <a:schemeClr val="tx1"/>
                </a:solidFill>
              </a:rPr>
              <a:t>break</a:t>
            </a:r>
            <a:endParaRPr lang="en-US" sz="1400" dirty="0"/>
          </a:p>
        </p:txBody>
      </p:sp>
      <p:sp>
        <p:nvSpPr>
          <p:cNvPr id="18" name="Phone away circle"/>
          <p:cNvSpPr/>
          <p:nvPr/>
        </p:nvSpPr>
        <p:spPr>
          <a:xfrm>
            <a:off x="640080" y="3931920"/>
            <a:ext cx="548640" cy="548640"/>
          </a:xfrm>
          <a:prstGeom prst="ellipse">
            <a:avLst/>
          </a:prstGeom>
          <a:solidFill>
            <a:schemeClr val="accent2"/>
          </a:solidFill>
          <a:ln w="12700">
            <a:solidFill>
              <a:schemeClr val="accent2"/>
            </a:solidFill>
            <a:prstDash val="solid"/>
          </a:ln>
        </p:spPr>
      </p:sp>
      <p:pic>
        <p:nvPicPr>
          <p:cNvPr id="19" name="Phone away" descr="Phone away">    </p:cNvPr>
          <p:cNvPicPr>
            <a:picLocks noChangeAspect="1"/>
          </p:cNvPicPr>
          <p:nvPr/>
        </p:nvPicPr>
        <p:blipFill>
          <a:blip r:embed="rId1"/>
          <a:stretch>
            <a:fillRect/>
          </a:stretch>
        </p:blipFill>
        <p:spPr>
          <a:xfrm>
            <a:off x="793699" y="4085539"/>
            <a:ext cx="241402" cy="241402"/>
          </a:xfrm>
          <a:prstGeom prst="rect">
            <a:avLst/>
          </a:prstGeom>
        </p:spPr>
      </p:pic>
      <p:sp>
        <p:nvSpPr>
          <p:cNvPr id="20" name="Block caption"/>
          <p:cNvSpPr txBox="1"/>
          <p:nvPr/>
        </p:nvSpPr>
        <p:spPr>
          <a:xfrm>
            <a:off x="1371600" y="3840480"/>
            <a:ext cx="7223760" cy="731520"/>
          </a:xfrm>
          <a:prstGeom prst="rect">
            <a:avLst/>
          </a:prstGeom>
          <a:noFill/>
          <a:ln/>
        </p:spPr>
        <p:txBody>
          <a:bodyPr wrap="square" lIns="0" tIns="0" rIns="0" bIns="0" rtlCol="0" anchor="ctr"/>
          <a:lstStyle/>
          <a:p>
            <a:pPr indent="0" marL="0">
              <a:buNone/>
            </a:pPr>
            <a:r>
              <a:rPr lang="en-US" sz="1600" dirty="0">
                <a:solidFill>
                  <a:schemeClr val="tx2"/>
                </a:solidFill>
              </a:rPr>
              <a:t>Phone away. One task. Timer on.  Drop your “Schedule” tasks from Step 2 into these blocks.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bg1"/>
                </a:solidFill>
              </a:rPr>
              <a:t>Dump it. Sort it. Block it.</a:t>
            </a:r>
            <a:endParaRPr lang="en-US" sz="3400" dirty="0"/>
          </a:p>
        </p:txBody>
      </p:sp>
      <p:sp>
        <p:nvSpPr>
          <p:cNvPr id="3" name="DUMP circle"/>
          <p:cNvSpPr/>
          <p:nvPr/>
        </p:nvSpPr>
        <p:spPr>
          <a:xfrm>
            <a:off x="1097280" y="1371600"/>
            <a:ext cx="1097280" cy="1097280"/>
          </a:xfrm>
          <a:prstGeom prst="ellipse">
            <a:avLst/>
          </a:prstGeom>
          <a:solidFill>
            <a:schemeClr val="accent3"/>
          </a:solidFill>
          <a:ln w="12700">
            <a:solidFill>
              <a:schemeClr val="accent3"/>
            </a:solidFill>
            <a:prstDash val="solid"/>
          </a:ln>
        </p:spPr>
      </p:sp>
      <p:pic>
        <p:nvPicPr>
          <p:cNvPr id="4" name="DUMP icon" descr="DUMP">    </p:cNvPr>
          <p:cNvPicPr>
            <a:picLocks noChangeAspect="1"/>
          </p:cNvPicPr>
          <p:nvPr/>
        </p:nvPicPr>
        <p:blipFill>
          <a:blip r:embed="rId1"/>
          <a:stretch>
            <a:fillRect/>
          </a:stretch>
        </p:blipFill>
        <p:spPr>
          <a:xfrm>
            <a:off x="1399032" y="1673352"/>
            <a:ext cx="493776" cy="493776"/>
          </a:xfrm>
          <a:prstGeom prst="rect">
            <a:avLst/>
          </a:prstGeom>
        </p:spPr>
      </p:pic>
      <p:sp>
        <p:nvSpPr>
          <p:cNvPr id="5" name="DUMP label"/>
          <p:cNvSpPr txBox="1"/>
          <p:nvPr/>
        </p:nvSpPr>
        <p:spPr>
          <a:xfrm>
            <a:off x="731520" y="2560320"/>
            <a:ext cx="1828800" cy="365760"/>
          </a:xfrm>
          <a:prstGeom prst="rect">
            <a:avLst/>
          </a:prstGeom>
          <a:noFill/>
          <a:ln/>
        </p:spPr>
        <p:txBody>
          <a:bodyPr wrap="square" lIns="0" tIns="0" rIns="0" bIns="0" rtlCol="0" anchor="ctr"/>
          <a:lstStyle/>
          <a:p>
            <a:pPr algn="ctr" indent="0" marL="0">
              <a:buNone/>
            </a:pPr>
            <a:r>
              <a:rPr lang="en-US" sz="1800" b="1" dirty="0">
                <a:solidFill>
                  <a:schemeClr val="bg1"/>
                </a:solidFill>
              </a:rPr>
              <a:t>DUMP</a:t>
            </a:r>
            <a:endParaRPr lang="en-US" sz="1800" dirty="0"/>
          </a:p>
        </p:txBody>
      </p:sp>
      <p:sp>
        <p:nvSpPr>
          <p:cNvPr id="6" name="SORT circle"/>
          <p:cNvSpPr/>
          <p:nvPr/>
        </p:nvSpPr>
        <p:spPr>
          <a:xfrm>
            <a:off x="3657600" y="1371600"/>
            <a:ext cx="1097280" cy="1097280"/>
          </a:xfrm>
          <a:prstGeom prst="ellipse">
            <a:avLst/>
          </a:prstGeom>
          <a:solidFill>
            <a:schemeClr val="accent2"/>
          </a:solidFill>
          <a:ln w="12700">
            <a:solidFill>
              <a:schemeClr val="accent2"/>
            </a:solidFill>
            <a:prstDash val="solid"/>
          </a:ln>
        </p:spPr>
      </p:sp>
      <p:pic>
        <p:nvPicPr>
          <p:cNvPr id="7" name="SORT icon" descr="SORT">    </p:cNvPr>
          <p:cNvPicPr>
            <a:picLocks noChangeAspect="1"/>
          </p:cNvPicPr>
          <p:nvPr/>
        </p:nvPicPr>
        <p:blipFill>
          <a:blip r:embed="rId2"/>
          <a:stretch>
            <a:fillRect/>
          </a:stretch>
        </p:blipFill>
        <p:spPr>
          <a:xfrm>
            <a:off x="3959352" y="1673352"/>
            <a:ext cx="493776" cy="493776"/>
          </a:xfrm>
          <a:prstGeom prst="rect">
            <a:avLst/>
          </a:prstGeom>
        </p:spPr>
      </p:pic>
      <p:sp>
        <p:nvSpPr>
          <p:cNvPr id="8" name="SORT label"/>
          <p:cNvSpPr txBox="1"/>
          <p:nvPr/>
        </p:nvSpPr>
        <p:spPr>
          <a:xfrm>
            <a:off x="3291840" y="2560320"/>
            <a:ext cx="1828800" cy="365760"/>
          </a:xfrm>
          <a:prstGeom prst="rect">
            <a:avLst/>
          </a:prstGeom>
          <a:noFill/>
          <a:ln/>
        </p:spPr>
        <p:txBody>
          <a:bodyPr wrap="square" lIns="0" tIns="0" rIns="0" bIns="0" rtlCol="0" anchor="ctr"/>
          <a:lstStyle/>
          <a:p>
            <a:pPr algn="ctr" indent="0" marL="0">
              <a:buNone/>
            </a:pPr>
            <a:r>
              <a:rPr lang="en-US" sz="1800" b="1" dirty="0">
                <a:solidFill>
                  <a:schemeClr val="bg1"/>
                </a:solidFill>
              </a:rPr>
              <a:t>SORT</a:t>
            </a:r>
            <a:endParaRPr lang="en-US" sz="1800" dirty="0"/>
          </a:p>
        </p:txBody>
      </p:sp>
      <p:sp>
        <p:nvSpPr>
          <p:cNvPr id="9" name="BLOCK circle"/>
          <p:cNvSpPr/>
          <p:nvPr/>
        </p:nvSpPr>
        <p:spPr>
          <a:xfrm>
            <a:off x="6217920" y="1371600"/>
            <a:ext cx="1097280" cy="1097280"/>
          </a:xfrm>
          <a:prstGeom prst="ellipse">
            <a:avLst/>
          </a:prstGeom>
          <a:solidFill>
            <a:schemeClr val="accent1"/>
          </a:solidFill>
          <a:ln w="12700">
            <a:solidFill>
              <a:schemeClr val="accent1"/>
            </a:solidFill>
            <a:prstDash val="solid"/>
          </a:ln>
        </p:spPr>
      </p:sp>
      <p:pic>
        <p:nvPicPr>
          <p:cNvPr id="10" name="BLOCK icon" descr="BLOCK">    </p:cNvPr>
          <p:cNvPicPr>
            <a:picLocks noChangeAspect="1"/>
          </p:cNvPicPr>
          <p:nvPr/>
        </p:nvPicPr>
        <p:blipFill>
          <a:blip r:embed="rId3"/>
          <a:stretch>
            <a:fillRect/>
          </a:stretch>
        </p:blipFill>
        <p:spPr>
          <a:xfrm>
            <a:off x="6519672" y="1673352"/>
            <a:ext cx="493776" cy="493776"/>
          </a:xfrm>
          <a:prstGeom prst="rect">
            <a:avLst/>
          </a:prstGeom>
        </p:spPr>
      </p:pic>
      <p:sp>
        <p:nvSpPr>
          <p:cNvPr id="11" name="BLOCK label"/>
          <p:cNvSpPr txBox="1"/>
          <p:nvPr/>
        </p:nvSpPr>
        <p:spPr>
          <a:xfrm>
            <a:off x="5852160" y="2560320"/>
            <a:ext cx="1828800" cy="365760"/>
          </a:xfrm>
          <a:prstGeom prst="rect">
            <a:avLst/>
          </a:prstGeom>
          <a:noFill/>
          <a:ln/>
        </p:spPr>
        <p:txBody>
          <a:bodyPr wrap="square" lIns="0" tIns="0" rIns="0" bIns="0" rtlCol="0" anchor="ctr"/>
          <a:lstStyle/>
          <a:p>
            <a:pPr algn="ctr" indent="0" marL="0">
              <a:buNone/>
            </a:pPr>
            <a:r>
              <a:rPr lang="en-US" sz="1800" b="1" dirty="0">
                <a:solidFill>
                  <a:schemeClr val="bg1"/>
                </a:solidFill>
              </a:rPr>
              <a:t>BLOCK</a:t>
            </a:r>
            <a:endParaRPr lang="en-US" sz="1800" dirty="0"/>
          </a:p>
        </p:txBody>
      </p:sp>
      <p:sp>
        <p:nvSpPr>
          <p:cNvPr id="12" name="Challenge card"/>
          <p:cNvSpPr/>
          <p:nvPr/>
        </p:nvSpPr>
        <p:spPr>
          <a:xfrm>
            <a:off x="731520" y="3291840"/>
            <a:ext cx="7680960" cy="1234440"/>
          </a:xfrm>
          <a:prstGeom prst="roundRect">
            <a:avLst>
              <a:gd name="adj" fmla="val 14815"/>
            </a:avLst>
          </a:prstGeom>
          <a:solidFill>
            <a:schemeClr val="tx2"/>
          </a:solidFill>
          <a:ln w="12700">
            <a:solidFill>
              <a:schemeClr val="tx2"/>
            </a:solidFill>
            <a:prstDash val="solid"/>
          </a:ln>
        </p:spPr>
      </p:sp>
      <p:sp>
        <p:nvSpPr>
          <p:cNvPr id="13" name="Challenge"/>
          <p:cNvSpPr txBox="1"/>
          <p:nvPr/>
        </p:nvSpPr>
        <p:spPr>
          <a:xfrm>
            <a:off x="1005840" y="3291840"/>
            <a:ext cx="7132320" cy="1234440"/>
          </a:xfrm>
          <a:prstGeom prst="rect">
            <a:avLst/>
          </a:prstGeom>
          <a:noFill/>
          <a:ln/>
        </p:spPr>
        <p:txBody>
          <a:bodyPr wrap="square" lIns="0" tIns="0" rIns="0" bIns="0" rtlCol="0" anchor="ctr"/>
          <a:lstStyle/>
          <a:p>
            <a:pPr indent="0" marL="0">
              <a:buNone/>
            </a:pPr>
            <a:r>
              <a:rPr lang="en-US" sz="1300" b="1" dirty="0">
                <a:solidFill>
                  <a:schemeClr val="accent2"/>
                </a:solidFill>
              </a:rPr>
              <a:t>TONIGHT'S CHALLENGE</a:t>
            </a:r>
            <a:endParaRPr lang="en-US" sz="1300" dirty="0"/>
          </a:p>
          <a:p>
            <a:pPr indent="0" marL="0">
              <a:buNone/>
            </a:pPr>
            <a:r>
              <a:rPr lang="en-US" sz="2000" dirty="0">
                <a:solidFill>
                  <a:schemeClr val="bg1"/>
                </a:solidFill>
              </a:rPr>
              <a:t>5-minute dump  →  pick your top 3  →  block time for the first one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5669280" cy="1554480"/>
          </a:xfrm>
          <a:prstGeom prst="rect">
            <a:avLst/>
          </a:prstGeom>
          <a:noFill/>
          <a:ln/>
        </p:spPr>
        <p:txBody>
          <a:bodyPr wrap="square" lIns="0" tIns="0" rIns="0" bIns="0" rtlCol="0" anchor="ctr"/>
          <a:lstStyle/>
          <a:p>
            <a:pPr algn="l" indent="0" marL="0">
              <a:buNone/>
            </a:pPr>
            <a:r>
              <a:rPr lang="en-US" sz="4800" b="1" dirty="0">
                <a:solidFill>
                  <a:schemeClr val="bg1"/>
                </a:solidFill>
              </a:rPr>
              <a:t>Questions?</a:t>
            </a:r>
            <a:endParaRPr lang="en-US" sz="4800" dirty="0"/>
          </a:p>
        </p:txBody>
      </p:sp>
      <p:sp>
        <p:nvSpPr>
          <p:cNvPr id="3" name="Text 0"/>
          <p:cNvSpPr/>
          <p:nvPr>
            <p:ph idx="101" type="body" hasCustomPrompt="1"/>
          </p:nvPr>
        </p:nvSpPr>
        <p:spPr>
          <a:xfrm>
            <a:off x="640080" y="3063240"/>
            <a:ext cx="5486400" cy="822960"/>
          </a:xfrm>
          <a:prstGeom prst="rect">
            <a:avLst/>
          </a:prstGeom>
          <a:noFill/>
          <a:ln/>
        </p:spPr>
        <p:txBody>
          <a:bodyPr wrap="square" lIns="0" tIns="0" rIns="0" bIns="0" rtlCol="0" anchor="t"/>
          <a:lstStyle/>
          <a:p>
            <a:pPr algn="l" indent="0" marL="0">
              <a:buNone/>
            </a:pPr>
            <a:r>
              <a:rPr lang="en-US" sz="2000" dirty="0">
                <a:solidFill>
                  <a:schemeClr val="accent2"/>
                </a:solidFill>
              </a:rPr>
              <a:t>Thank you for listening!</a:t>
            </a:r>
            <a:endParaRPr lang="en-US" sz="2000" dirty="0"/>
          </a:p>
        </p:txBody>
      </p:sp>
      <p:sp>
        <p:nvSpPr>
          <p:cNvPr id="4" name="Smile circle"/>
          <p:cNvSpPr/>
          <p:nvPr/>
        </p:nvSpPr>
        <p:spPr>
          <a:xfrm>
            <a:off x="6583680" y="1097280"/>
            <a:ext cx="1737360" cy="1737360"/>
          </a:xfrm>
          <a:prstGeom prst="ellipse">
            <a:avLst/>
          </a:prstGeom>
          <a:solidFill>
            <a:schemeClr val="accent2"/>
          </a:solidFill>
          <a:ln w="12700">
            <a:solidFill>
              <a:schemeClr val="accent2"/>
            </a:solidFill>
            <a:prstDash val="solid"/>
          </a:ln>
        </p:spPr>
      </p:sp>
      <p:pic>
        <p:nvPicPr>
          <p:cNvPr id="5" name="Smile" descr="Smile">    </p:cNvPr>
          <p:cNvPicPr>
            <a:picLocks noChangeAspect="1"/>
          </p:cNvPicPr>
          <p:nvPr/>
        </p:nvPicPr>
        <p:blipFill>
          <a:blip r:embed="rId1"/>
          <a:stretch>
            <a:fillRect/>
          </a:stretch>
        </p:blipFill>
        <p:spPr>
          <a:xfrm>
            <a:off x="7070141" y="1583741"/>
            <a:ext cx="764438" cy="764438"/>
          </a:xfrm>
          <a:prstGeom prst="rect">
            <a:avLst/>
          </a:prstGeom>
        </p:spPr>
      </p:pic>
      <p:sp>
        <p:nvSpPr>
          <p:cNvPr id="6" name="Bolt circle"/>
          <p:cNvSpPr/>
          <p:nvPr/>
        </p:nvSpPr>
        <p:spPr>
          <a:xfrm>
            <a:off x="5943600" y="2926080"/>
            <a:ext cx="914400" cy="914400"/>
          </a:xfrm>
          <a:prstGeom prst="ellipse">
            <a:avLst/>
          </a:prstGeom>
          <a:solidFill>
            <a:schemeClr val="accent3"/>
          </a:solidFill>
          <a:ln w="12700">
            <a:solidFill>
              <a:schemeClr val="accent3"/>
            </a:solidFill>
            <a:prstDash val="solid"/>
          </a:ln>
        </p:spPr>
      </p:sp>
      <p:pic>
        <p:nvPicPr>
          <p:cNvPr id="7" name="Bolt" descr="Bolt">    </p:cNvPr>
          <p:cNvPicPr>
            <a:picLocks noChangeAspect="1"/>
          </p:cNvPicPr>
          <p:nvPr/>
        </p:nvPicPr>
        <p:blipFill>
          <a:blip r:embed="rId2"/>
          <a:stretch>
            <a:fillRect/>
          </a:stretch>
        </p:blipFill>
        <p:spPr>
          <a:xfrm>
            <a:off x="6199632" y="3182112"/>
            <a:ext cx="402336" cy="402336"/>
          </a:xfrm>
          <a:prstGeom prst="rect">
            <a:avLst/>
          </a:prstGeom>
        </p:spPr>
      </p:pic>
    </p:spTree>
  </p:cSld>
  <p:clrMapOvr>
    <a:masterClrMapping/>
  </p:clrMapOvr>
</p:sld>
</file>

<file path=ppt/theme/theme1.xml><?xml version="1.0" encoding="utf-8"?>
<a:theme xmlns:a="http://schemas.openxmlformats.org/drawingml/2006/main" name="Deadline Survival">
  <a:themeElements>
    <a:clrScheme name="Deadline Survival">
      <a:dk1>
        <a:srgbClr val="1F1A38"/>
      </a:dk1>
      <a:lt1>
        <a:srgbClr val="FFFFFF"/>
      </a:lt1>
      <a:dk2>
        <a:srgbClr val="2E2650"/>
      </a:dk2>
      <a:lt2>
        <a:srgbClr val="F4F1FA"/>
      </a:lt2>
      <a:accent1>
        <a:srgbClr val="EF4B52"/>
      </a:accent1>
      <a:accent2>
        <a:srgbClr val="FFC857"/>
      </a:accent2>
      <a:accent3>
        <a:srgbClr val="2EC4A6"/>
      </a:accent3>
      <a:accent4>
        <a:srgbClr val="7C5CFF"/>
      </a:accent4>
      <a:accent5>
        <a:srgbClr val="FF8FA3"/>
      </a:accent5>
      <a:accent6>
        <a:srgbClr val="4DB6FF"/>
      </a:accent6>
      <a:hlink>
        <a:srgbClr val="7C5CFF"/>
      </a:hlink>
      <a:folHlink>
        <a:srgbClr val="2E2650"/>
      </a:folHlink>
    </a:clrScheme>
    <a:fontScheme name="Deadline Surviv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Deadline Survival Guide</dc:title>
  <dc:subject>PptxGenJS Presentation</dc:subject>
  <dc:creator>Student</dc:creator>
  <cp:lastModifiedBy>Student</cp:lastModifiedBy>
  <cp:revision>1</cp:revision>
  <dcterms:created xsi:type="dcterms:W3CDTF">2026-10-05T08:21:31Z</dcterms:created>
  <dcterms:modified xsi:type="dcterms:W3CDTF">2026-10-05T08:21:31Z</dcterms:modified>
</cp:coreProperties>
</file>